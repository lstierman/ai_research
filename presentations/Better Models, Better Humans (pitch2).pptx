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 Henri" id="{9406edbf-9f64-1a68-a841-f6ad97d32e68}">
          <p14:sldIdLst>
            <p14:sldId id="256"/>
            <p14:sldId id="257"/>
            <p14:sldId id="258"/>
            <p14:sldId id="259"/>
            <p14:sldId id="260"/>
          </p14:sldIdLst>
        </p14:section>
        <p14:section name="How · Leander" id="{4b0e6119-b6a3-cf8e-9d42-eb48c8d8217e}">
          <p14:sldIdLst>
            <p14:sldId id="261"/>
            <p14:sldId id="262"/>
            <p14:sldId id="263"/>
            <p14:sldId id="264"/>
            <p14:sldId id="265"/>
          </p14:sldIdLst>
        </p14:section>
        <p14:section name="Close" id="{6df5349d-ae5d-417f-d0de-dc417c5eaeaa}">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HENRI · 0:00 – 0:30
Good morning. We're group 3: Leander, Lin, and I'm Henri.
Two weeks ago we pitched the question "better models, better humans?". Today we'll show you how we're going to test it: the experiment, what we measure, why we think it's feasible, and at the end Leander will let you try the survey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HENRI · 0:30 – 1:45
Imagine you're on a video call with an AI assistant. It looks you in the eye, it sounds calm and sure of itself, and it explains how to work out whether an investment is worth it. One step in that explanation is wrong.
(pause)
Would you notice? And would you notice more easily if the exact same explanation was just text in a chat window?
This isn't far-fetched. AI is climbing this ladder: first chat, then voice assistants, and now faces. Three weeks ago, the company Tavus reported that in a one-minute video call, 26 out of 54 people thought their AI avatar was a real person. That's their own number, not peer reviewed, but it shows where this is going.
Every step up the ladder feels more natural, and more trustworthy. But trust only helps if it matches how good the AI really is. If a face makes a wrong explanation more convincing, human-likeness makes our decisions worse, not better. That matters for the people who design these interfaces, and for everyone who uses AI to learn something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HENRI · 1:45 – 3:00
So what do we already know? Four findings.
First, a 2024 meta-analysis by Vaccaro and colleagues, over 106 experiments: on average, a human working with an AI does worse than the best of the two alone, especially on decisions.
Second, Bansal and colleagues showed that explanations make people accept AI advice more, also when the AI is wrong. So an explanation isn't automatically a safeguard.
Third, Buçinca and colleagues could reduce that over-reliance by making people think for themselves first, but users liked that design the least.
And fourth, from psychology: people treat computers as social actors, and hearing the same words spoken makes the speaker seem more competent than reading them.
Put these together and there's a gap. This work is almost all about text. We found few studies that take the exact same explanation, deliver it as text, voice and a face, and measure whether people take over its mistakes. That's what we want to do.
Tip: the sources are on the slide. Say the author name once and don't add "this paper says…"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HENRI · 3:00 – 4:00
Our question: when people learn something new from an AI, does a more human-like format make them more likely to adopt its mistakes?
We expect three things. One: people trust voice and video more than text. Two, our main hypothesis: with voice, and even more with a face, more people follow the mistake. And three: that effect is bigger when the mistake sits in a harder question. Checking costs more effort there, so social cues matter more.
We also look at whether people's confidence matches whether they're right, whether they say they checked the explanation, and which format they prefer.
And our tests are two-sided: if text turns out to be the most misleading, that's a finding too, not a failed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HENRI · 4:00 – 4:45
The core of the design: we write one script per explanation and deliver it three ways. As text in a chat, read aloud by an AI voice, or by an AI avatar with that same voice. The words are identical; only the format changes.
After our first pitch, someone asked whether we can separate the effect of audio itself, like its speed and the fact that you can't re-read it. So: the text appears at speaking speed, voice and video can be replayed, and voice and video use the exact same audio file. Comparing those two isolates the effect of the face.
Leander will now show you what one case looks like.
→ HAND OVER TO LEANDER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LEANDER · 4:45 – 5:45
Thanks, Henri. Every participant goes through six short cases on topics most people don't know well: game rules, finance, statistics. We chose unfamiliar topics on purpose. The rules come only from the AI, just like when you ask an AI to explain something you don't know.
A case works like this. First you read a situation. Then the AI explains how it works, in text, voice or video, about a minute long. It teaches the method but never gives the answers. Right after, you rate how much you trust that explanation.
Then three questions: an easy one, a medium one and a hard one, and for each you say how sure you are. There's a calculator built in, and we log everything people type into it.
Six cases, so eighteen answers per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LEANDER · 5:45 – 7:00
Now the twist: half of the explanations hide one subtle mistake.
We design these carefully. The flawed version is identical to the correct one except for one sentence, said in the same confident tone. That mistake breaks exactly one of the three questions; the other two stay correct. And every mistake can be caught by a beginner: the AI contradicts something it said earlier, or a quick sum doesn't add up.
Here's what one participant could get. Three parts, one format each. In every part, one case is flawed and one is correct. Over the three parts they meet one mistake on an easy question, one on a medium and one on a hard question.
Which format gets which difficulty is not fixed. The next participant might have the easy-question mistake in video instead of text. We rotate the format order, which cases are flawed and which question the mistake hits. That gives 36 conditions, and across them every format gets mistakes on easy, medium and hard questions equally often.
And we only ask "did you notice any mistakes?" at the very end. If we asked earlier, people would start hunting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LEANDER · 7:00 – 7:45
What do we measure? The main outcome is flaw adoption: on the question the mistake affects, did someone give exactly the wrong answer the mistake leads to?
Next to that, how well people learn from the correct explanations. If voice or video is simply harder to learn from, that's a different story from being more convincing, and this lets us tell them apart.
We also measure trust, right after each explanation, and calibration: does confidence match whether the answer is actually right?
For the analysis we use mixed logistic regression, with participant and case as random effects, because every person answers several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LEANDER · 7:45 – 8:30
A fair question from last time: is this feasible? We think so. We need at least 36 participants, one per condition, and ideally 72. It's a 30-minute online survey on a laptop, and we'll collect everything within one week. The survey site already works; you'll see it in a moment. What's left is recording the explanations: 12 scripts in three formats, with a text-to-speech voice and an avatar tool.
We're also honest about the limits. With this sample we can only detect large effects, so we present it as an exploratory pilot. Text can be re-read and voice can't, so voice versus face is our cleanest comparison. We use one voice and one avatar. And because the study uses mild deception, everyone gets a full debrief that corrects every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LEANDER · 8:30 – 9:30
Let's look at it.
(switch to the browser)
This is a demo case we made just for today, not one of the real six. That's on purpose: we'd love for you, our classmates and professors, to take part. If we showed you the real cases now, we'd give the mistakes away. And since you now know how the study works, we'll keep your answers as a separate group and compare them with everyone else.
Walk-through (about 45 s):
1. Show the situation.
2. Press play on the video explanation. Let it run a few seconds, then skip ahead.
3. Move the trust slider.
4. Answer one question with a confidence rating, and open the calculator.
5. Switch to the text version of the same case to show the difference.
(back to the slides)
Demo checklist: server running, Edge, sound tested; demo case only; presenter toolbar (?demo=1) hidden because it lists the flawed cases; backup recording ready; don't submit a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9:30 – 10:00
To wrap up: AI is getting a voice and a face, fast. We want to find out whether that makes it more helpful, or just more convincing. If it's the second, the people designing these interfaces, and anyone teaching people how to use AI, need to know.
Thank you. We're happy to take your questions.
Likely questions: see pitch2-script.md (sample size, measuring trust, why not a live LLM, prior knowledge, uncanny valley, ethics, participants talking, re-reading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58952" y="612648"/>
            <a:ext cx="10671048" cy="274320"/>
          </a:xfrm>
          <a:prstGeom prst="rect">
            <a:avLst/>
          </a:prstGeom>
          <a:noFill/>
          <a:ln/>
        </p:spPr>
        <p:txBody>
          <a:bodyPr wrap="square" rtlCol="0"/>
          <a:lstStyle>
            <a:lvl1pPr indent="0" marL="0">
              <a:buNone/>
              <a:defRPr lang="en-US" sz="1100" spc="200" kern="0" dirty="0">
                <a:solidFill>
                  <a:schemeClr val="tx2"/>
                </a:solidFill>
                <a:latin typeface="Consolas" pitchFamily="34" charset="0"/>
                <a:ea typeface="Consolas" pitchFamily="34" charset="-122"/>
                <a:cs typeface="Consolas" pitchFamily="34" charset="-120"/>
              </a:defRPr>
            </a:lvl1pPr>
          </a:lstStyle>
          <a:p>
            <a:pPr indent="0" marL="0">
              <a:buNone/>
            </a:pPr>
            <a:endParaRPr lang="en-US" sz="1100" dirty="0"/>
          </a:p>
        </p:txBody>
      </p:sp>
      <p:sp>
        <p:nvSpPr>
          <p:cNvPr id="3" name="Text 0"/>
          <p:cNvSpPr/>
          <p:nvPr>
            <p:ph idx="101" type="title" hasCustomPrompt="1"/>
          </p:nvPr>
        </p:nvSpPr>
        <p:spPr>
          <a:xfrm>
            <a:off x="758952" y="1828800"/>
            <a:ext cx="6583680" cy="1920240"/>
          </a:xfrm>
          <a:prstGeom prst="rect">
            <a:avLst/>
          </a:prstGeom>
          <a:noFill/>
          <a:ln/>
        </p:spPr>
        <p:txBody>
          <a:bodyPr wrap="square" rtlCol="0"/>
          <a:lstStyle>
            <a:lvl1pPr algn="l" indent="0" marL="0">
              <a:lnSpc>
                <a:spcPct val="90000"/>
              </a:lnSpc>
              <a:buNone/>
              <a:defRPr lang="en-US" sz="6400" b="1" dirty="0">
                <a:solidFill>
                  <a:schemeClr val="tx1"/>
                </a:solidFill>
              </a:defRPr>
            </a:lvl1pPr>
          </a:lstStyle>
          <a:p>
            <a:pPr algn="l" indent="0" marL="0">
              <a:lnSpc>
                <a:spcPct val="90000"/>
              </a:lnSpc>
              <a:buNone/>
            </a:pPr>
            <a:endParaRPr lang="en-US" sz="6400" dirty="0"/>
          </a:p>
        </p:txBody>
      </p:sp>
      <p:sp>
        <p:nvSpPr>
          <p:cNvPr id="4" name="Text 0"/>
          <p:cNvSpPr/>
          <p:nvPr>
            <p:ph idx="102" type="body" hasCustomPrompt="1"/>
          </p:nvPr>
        </p:nvSpPr>
        <p:spPr>
          <a:xfrm>
            <a:off x="758952" y="3931920"/>
            <a:ext cx="6035040" cy="822960"/>
          </a:xfrm>
          <a:prstGeom prst="rect">
            <a:avLst/>
          </a:prstGeom>
          <a:noFill/>
          <a:ln/>
        </p:spPr>
        <p:txBody>
          <a:bodyPr wrap="square" rtlCol="0"/>
          <a:lstStyle>
            <a:lvl1pPr indent="0" marL="0">
              <a:buNone/>
              <a:defRPr lang="en-US" sz="2000" dirty="0">
                <a:solidFill>
                  <a:schemeClr val="tx1"/>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58952" y="566928"/>
            <a:ext cx="10671048" cy="274320"/>
          </a:xfrm>
          <a:prstGeom prst="rect">
            <a:avLst/>
          </a:prstGeom>
          <a:noFill/>
          <a:ln/>
        </p:spPr>
        <p:txBody>
          <a:bodyPr wrap="square" rtlCol="0"/>
          <a:lstStyle>
            <a:lvl1pPr indent="0" marL="0">
              <a:buNone/>
              <a:defRPr lang="en-US" sz="1100" spc="200" kern="0" dirty="0">
                <a:solidFill>
                  <a:schemeClr val="tx2"/>
                </a:solidFill>
                <a:latin typeface="Consolas" pitchFamily="34" charset="0"/>
                <a:ea typeface="Consolas" pitchFamily="34" charset="-122"/>
                <a:cs typeface="Consolas" pitchFamily="34" charset="-120"/>
              </a:defRPr>
            </a:lvl1pPr>
          </a:lstStyle>
          <a:p>
            <a:pPr indent="0" marL="0">
              <a:buNone/>
            </a:pPr>
            <a:endParaRPr lang="en-US" sz="1100" dirty="0"/>
          </a:p>
        </p:txBody>
      </p:sp>
      <p:sp>
        <p:nvSpPr>
          <p:cNvPr id="3" name="Text 0"/>
          <p:cNvSpPr/>
          <p:nvPr>
            <p:ph idx="101" type="title" hasCustomPrompt="1"/>
          </p:nvPr>
        </p:nvSpPr>
        <p:spPr>
          <a:xfrm>
            <a:off x="758952" y="868680"/>
            <a:ext cx="10671048" cy="1005840"/>
          </a:xfrm>
          <a:prstGeom prst="rect">
            <a:avLst/>
          </a:prstGeom>
          <a:noFill/>
          <a:ln/>
        </p:spPr>
        <p:txBody>
          <a:bodyPr wrap="square" rtlCol="0"/>
          <a:lstStyle>
            <a:lvl1pPr algn="l" indent="0" marL="0">
              <a:lnSpc>
                <a:spcPct val="95000"/>
              </a:lnSpc>
              <a:buNone/>
              <a:defRPr lang="en-US" sz="3200" b="1" dirty="0">
                <a:solidFill>
                  <a:schemeClr val="tx1"/>
                </a:solidFill>
              </a:defRPr>
            </a:lvl1pPr>
          </a:lstStyle>
          <a:p>
            <a:pPr algn="l" indent="0" marL="0">
              <a:lnSpc>
                <a:spcPct val="95000"/>
              </a:lnSpc>
              <a:buNone/>
            </a:pPr>
            <a:endParaRPr lang="en-US" sz="3200" dirty="0"/>
          </a:p>
        </p:txBody>
      </p:sp>
      <p:sp>
        <p:nvSpPr>
          <p:cNvPr id="4" name="Text 0"/>
          <p:cNvSpPr/>
          <p:nvPr/>
        </p:nvSpPr>
        <p:spPr>
          <a:xfrm>
            <a:off x="758952" y="6327648"/>
            <a:ext cx="5486400" cy="228600"/>
          </a:xfrm>
          <a:prstGeom prst="rect">
            <a:avLst/>
          </a:prstGeom>
          <a:noFill/>
          <a:ln/>
        </p:spPr>
        <p:txBody>
          <a:bodyPr wrap="square" lIns="0" tIns="0" rIns="0" bIns="0" rtlCol="0" anchor="ctr"/>
          <a:lstStyle/>
          <a:p>
            <a:pPr indent="0" marL="0">
              <a:buNone/>
            </a:pPr>
            <a:r>
              <a:rPr lang="en-US" sz="1000" dirty="0">
                <a:solidFill>
                  <a:schemeClr val="tx2"/>
                </a:solidFill>
                <a:latin typeface="Consolas" pitchFamily="34" charset="0"/>
                <a:ea typeface="Consolas" pitchFamily="34" charset="-122"/>
                <a:cs typeface="Consolas" pitchFamily="34" charset="-120"/>
              </a:rPr>
              <a:t>Better models, better humans?</a:t>
            </a:r>
            <a:endParaRPr lang="en-US" sz="1000" dirty="0"/>
          </a:p>
        </p:txBody>
      </p:sp>
      <p:sp>
        <p:nvSpPr>
          <p:cNvPr id="25" name="Slide Number Placeholder 0"/>
          <p:cNvSpPr>
            <a:spLocks noGrp="1"/>
          </p:cNvSpPr>
          <p:nvPr>
            <p:ph type="sldNum" sz="quarter" idx="4294967295"/>
          </p:nvPr>
        </p:nvSpPr>
        <p:spPr>
          <a:xfrm>
            <a:off x="10881360" y="635508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latin typeface="Consolas"/>
                <a:ea typeface="Consolas"/>
                <a:cs typeface="Consolas"/>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5508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1-5.png"/><Relationship Id="rId6" Type="http://schemas.openxmlformats.org/officeDocument/2006/relationships/image" Target="../media/image-1-6.sv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58952" y="612648"/>
            <a:ext cx="10671048" cy="274320"/>
          </a:xfrm>
          <a:prstGeom prst="rect">
            <a:avLst/>
          </a:prstGeom>
          <a:noFill/>
          <a:ln/>
        </p:spPr>
        <p:txBody>
          <a:bodyPr wrap="square" lIns="0" tIns="0" rIns="0" bIns="0" rtlCol="0" anchor="t"/>
          <a:lstStyle/>
          <a:p>
            <a:pPr indent="0" marL="0">
              <a:buNone/>
            </a:pPr>
            <a:r>
              <a:rPr lang="en-US" sz="1100" spc="200" kern="0" dirty="0">
                <a:solidFill>
                  <a:schemeClr val="tx2"/>
                </a:solidFill>
                <a:latin typeface="Consolas" pitchFamily="34" charset="0"/>
                <a:ea typeface="Consolas" pitchFamily="34" charset="-122"/>
                <a:cs typeface="Consolas" pitchFamily="34" charset="-120"/>
              </a:rPr>
              <a:t>RESEARCH PROPOSAL · HUMAN–AI INTERACTION</a:t>
            </a:r>
            <a:endParaRPr lang="en-US" sz="1100" dirty="0"/>
          </a:p>
        </p:txBody>
      </p:sp>
      <p:sp>
        <p:nvSpPr>
          <p:cNvPr id="3" name="Text 0"/>
          <p:cNvSpPr/>
          <p:nvPr>
            <p:ph idx="101" type="title" hasCustomPrompt="1"/>
          </p:nvPr>
        </p:nvSpPr>
        <p:spPr>
          <a:xfrm>
            <a:off x="758952" y="1828800"/>
            <a:ext cx="6583680" cy="1920240"/>
          </a:xfrm>
          <a:prstGeom prst="rect">
            <a:avLst/>
          </a:prstGeom>
          <a:noFill/>
          <a:ln/>
        </p:spPr>
        <p:txBody>
          <a:bodyPr wrap="square" lIns="0" tIns="0" rIns="0" bIns="0" rtlCol="0" anchor="b"/>
          <a:lstStyle/>
          <a:p>
            <a:pPr algn="l" indent="0" marL="0">
              <a:lnSpc>
                <a:spcPct val="90000"/>
              </a:lnSpc>
              <a:buNone/>
            </a:pPr>
            <a:r>
              <a:rPr lang="en-US" sz="6400" b="1" dirty="0">
                <a:solidFill>
                  <a:schemeClr val="tx1"/>
                </a:solidFill>
              </a:rPr>
              <a:t>Better models,</a:t>
            </a:r>
            <a:endParaRPr lang="en-US" sz="6400" dirty="0"/>
          </a:p>
          <a:p>
            <a:pPr algn="l" indent="0" marL="0">
              <a:lnSpc>
                <a:spcPct val="90000"/>
              </a:lnSpc>
              <a:buNone/>
            </a:pPr>
            <a:r>
              <a:rPr lang="en-US" sz="6400" b="1" dirty="0">
                <a:solidFill>
                  <a:schemeClr val="tx1"/>
                </a:solidFill>
              </a:rPr>
              <a:t>better humans?</a:t>
            </a:r>
            <a:endParaRPr lang="en-US" sz="6400" dirty="0"/>
          </a:p>
        </p:txBody>
      </p:sp>
      <p:sp>
        <p:nvSpPr>
          <p:cNvPr id="4" name="Text 0"/>
          <p:cNvSpPr/>
          <p:nvPr>
            <p:ph idx="102" type="body" hasCustomPrompt="1"/>
          </p:nvPr>
        </p:nvSpPr>
        <p:spPr>
          <a:xfrm>
            <a:off x="758952" y="3931920"/>
            <a:ext cx="6035040" cy="822960"/>
          </a:xfrm>
          <a:prstGeom prst="rect">
            <a:avLst/>
          </a:prstGeom>
          <a:noFill/>
          <a:ln/>
        </p:spPr>
        <p:txBody>
          <a:bodyPr wrap="square" lIns="0" tIns="0" rIns="0" bIns="0" rtlCol="0" anchor="t"/>
          <a:lstStyle/>
          <a:p>
            <a:pPr indent="0" marL="0">
              <a:buNone/>
            </a:pPr>
            <a:r>
              <a:rPr lang="en-US" sz="2000" dirty="0">
                <a:solidFill>
                  <a:schemeClr val="tx1"/>
                </a:solidFill>
              </a:rPr>
              <a:t>More human-like does not automatically mean more helpful.</a:t>
            </a:r>
            <a:endParaRPr lang="en-US" sz="2000" dirty="0"/>
          </a:p>
        </p:txBody>
      </p:sp>
      <p:sp>
        <p:nvSpPr>
          <p:cNvPr id="5" name="Shape 3"/>
          <p:cNvSpPr/>
          <p:nvPr/>
        </p:nvSpPr>
        <p:spPr>
          <a:xfrm>
            <a:off x="758952" y="4983480"/>
            <a:ext cx="6035040" cy="0"/>
          </a:xfrm>
          <a:prstGeom prst="line">
            <a:avLst/>
          </a:prstGeom>
          <a:noFill/>
          <a:ln w="9525">
            <a:solidFill>
              <a:schemeClr val="accent6"/>
            </a:solidFill>
            <a:prstDash val="solid"/>
          </a:ln>
        </p:spPr>
      </p:sp>
      <p:sp>
        <p:nvSpPr>
          <p:cNvPr id="6" name="Text 4"/>
          <p:cNvSpPr txBox="1"/>
          <p:nvPr/>
        </p:nvSpPr>
        <p:spPr>
          <a:xfrm>
            <a:off x="758952" y="5120640"/>
            <a:ext cx="6217920" cy="320040"/>
          </a:xfrm>
          <a:prstGeom prst="rect">
            <a:avLst/>
          </a:prstGeom>
          <a:noFill/>
          <a:ln/>
        </p:spPr>
        <p:txBody>
          <a:bodyPr wrap="square" lIns="0" tIns="0" rIns="0" bIns="0" rtlCol="0" anchor="t"/>
          <a:lstStyle/>
          <a:p>
            <a:pPr indent="0" marL="0">
              <a:buNone/>
            </a:pPr>
            <a:r>
              <a:rPr lang="en-US" sz="1400" dirty="0">
                <a:solidFill>
                  <a:schemeClr val="tx2"/>
                </a:solidFill>
                <a:latin typeface="Consolas" pitchFamily="34" charset="0"/>
                <a:ea typeface="Consolas" pitchFamily="34" charset="-122"/>
                <a:cs typeface="Consolas" pitchFamily="34" charset="-120"/>
              </a:rPr>
              <a:t>Leander Stierman      Lin Kengjian      Henri Lemahieu</a:t>
            </a:r>
            <a:endParaRPr lang="en-US" sz="1400" dirty="0"/>
          </a:p>
        </p:txBody>
      </p:sp>
      <p:pic>
        <p:nvPicPr>
          <p:cNvPr id="7" name="text icon" descr="text ic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863840" y="1965960"/>
            <a:ext cx="685800" cy="685800"/>
          </a:xfrm>
          <a:prstGeom prst="rect">
            <a:avLst/>
          </a:prstGeom>
        </p:spPr>
      </p:pic>
      <p:sp>
        <p:nvSpPr>
          <p:cNvPr id="8" name="Text 5"/>
          <p:cNvSpPr txBox="1"/>
          <p:nvPr/>
        </p:nvSpPr>
        <p:spPr>
          <a:xfrm>
            <a:off x="8778240" y="2148840"/>
            <a:ext cx="2743200" cy="320040"/>
          </a:xfrm>
          <a:prstGeom prst="rect">
            <a:avLst/>
          </a:prstGeom>
          <a:noFill/>
          <a:ln/>
        </p:spPr>
        <p:txBody>
          <a:bodyPr wrap="square" lIns="0" tIns="0" rIns="0" bIns="0" rtlCol="0" anchor="t"/>
          <a:lstStyle/>
          <a:p>
            <a:pPr indent="0" marL="0">
              <a:buNone/>
            </a:pPr>
            <a:r>
              <a:rPr lang="en-US" sz="1500" dirty="0">
                <a:solidFill>
                  <a:schemeClr val="accent1"/>
                </a:solidFill>
                <a:latin typeface="Consolas" pitchFamily="34" charset="0"/>
                <a:ea typeface="Consolas" pitchFamily="34" charset="-122"/>
                <a:cs typeface="Consolas" pitchFamily="34" charset="-120"/>
              </a:rPr>
              <a:t>Text</a:t>
            </a:r>
            <a:endParaRPr lang="en-US" sz="1500" dirty="0"/>
          </a:p>
        </p:txBody>
      </p:sp>
      <p:pic>
        <p:nvPicPr>
          <p:cNvPr id="9" name="voice icon" descr="voice icon">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63840" y="3154680"/>
            <a:ext cx="685800" cy="685800"/>
          </a:xfrm>
          <a:prstGeom prst="rect">
            <a:avLst/>
          </a:prstGeom>
        </p:spPr>
      </p:pic>
      <p:sp>
        <p:nvSpPr>
          <p:cNvPr id="10" name="Text 6"/>
          <p:cNvSpPr txBox="1"/>
          <p:nvPr/>
        </p:nvSpPr>
        <p:spPr>
          <a:xfrm>
            <a:off x="8778240" y="3337560"/>
            <a:ext cx="2743200" cy="320040"/>
          </a:xfrm>
          <a:prstGeom prst="rect">
            <a:avLst/>
          </a:prstGeom>
          <a:noFill/>
          <a:ln/>
        </p:spPr>
        <p:txBody>
          <a:bodyPr wrap="square" lIns="0" tIns="0" rIns="0" bIns="0" rtlCol="0" anchor="t"/>
          <a:lstStyle/>
          <a:p>
            <a:pPr indent="0" marL="0">
              <a:buNone/>
            </a:pPr>
            <a:r>
              <a:rPr lang="en-US" sz="1500" dirty="0">
                <a:solidFill>
                  <a:schemeClr val="accent2"/>
                </a:solidFill>
                <a:latin typeface="Consolas" pitchFamily="34" charset="0"/>
                <a:ea typeface="Consolas" pitchFamily="34" charset="-122"/>
                <a:cs typeface="Consolas" pitchFamily="34" charset="-120"/>
              </a:rPr>
              <a:t>AI voice</a:t>
            </a:r>
            <a:endParaRPr lang="en-US" sz="1500" dirty="0"/>
          </a:p>
        </p:txBody>
      </p:sp>
      <p:pic>
        <p:nvPicPr>
          <p:cNvPr id="11" name="face icon" descr="face icon">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63840" y="4343400"/>
            <a:ext cx="685800" cy="685800"/>
          </a:xfrm>
          <a:prstGeom prst="rect">
            <a:avLst/>
          </a:prstGeom>
        </p:spPr>
      </p:pic>
      <p:sp>
        <p:nvSpPr>
          <p:cNvPr id="12" name="Text 7"/>
          <p:cNvSpPr txBox="1"/>
          <p:nvPr/>
        </p:nvSpPr>
        <p:spPr>
          <a:xfrm>
            <a:off x="8778240" y="4526280"/>
            <a:ext cx="2743200" cy="320040"/>
          </a:xfrm>
          <a:prstGeom prst="rect">
            <a:avLst/>
          </a:prstGeom>
          <a:noFill/>
          <a:ln/>
        </p:spPr>
        <p:txBody>
          <a:bodyPr wrap="square" lIns="0" tIns="0" rIns="0" bIns="0" rtlCol="0" anchor="t"/>
          <a:lstStyle/>
          <a:p>
            <a:pPr indent="0" marL="0">
              <a:buNone/>
            </a:pPr>
            <a:r>
              <a:rPr lang="en-US" sz="1500" dirty="0">
                <a:solidFill>
                  <a:schemeClr val="accent3"/>
                </a:solidFill>
                <a:latin typeface="Consolas" pitchFamily="34" charset="0"/>
                <a:ea typeface="Consolas" pitchFamily="34" charset="-122"/>
                <a:cs typeface="Consolas" pitchFamily="34" charset="-120"/>
              </a:rPr>
              <a:t>AI voice + face</a:t>
            </a:r>
            <a:endParaRPr lang="en-US" sz="1500" dirty="0"/>
          </a:p>
        </p:txBody>
      </p:sp>
      <p:sp>
        <p:nvSpPr>
          <p:cNvPr id="13" name="Text 8"/>
          <p:cNvSpPr txBox="1"/>
          <p:nvPr/>
        </p:nvSpPr>
        <p:spPr>
          <a:xfrm>
            <a:off x="8092440" y="2743200"/>
            <a:ext cx="274320" cy="274320"/>
          </a:xfrm>
          <a:prstGeom prst="rect">
            <a:avLst/>
          </a:prstGeom>
          <a:noFill/>
          <a:ln/>
        </p:spPr>
        <p:txBody>
          <a:bodyPr wrap="square" lIns="0" tIns="0" rIns="0" bIns="0" rtlCol="0" anchor="t"/>
          <a:lstStyle/>
          <a:p>
            <a:pPr indent="0" marL="0">
              <a:buNone/>
            </a:pPr>
            <a:r>
              <a:rPr lang="en-US" sz="1400" dirty="0">
                <a:solidFill>
                  <a:schemeClr val="tx1"/>
                </a:solidFill>
                <a:latin typeface="Consolas" pitchFamily="34" charset="0"/>
                <a:ea typeface="Consolas" pitchFamily="34" charset="-122"/>
                <a:cs typeface="Consolas" pitchFamily="34" charset="-120"/>
              </a:rPr>
              <a:t>↓</a:t>
            </a:r>
            <a:endParaRPr lang="en-US" sz="1400" dirty="0"/>
          </a:p>
        </p:txBody>
      </p:sp>
      <p:sp>
        <p:nvSpPr>
          <p:cNvPr id="14" name="Text 9"/>
          <p:cNvSpPr txBox="1"/>
          <p:nvPr/>
        </p:nvSpPr>
        <p:spPr>
          <a:xfrm>
            <a:off x="8092440" y="3931920"/>
            <a:ext cx="274320" cy="274320"/>
          </a:xfrm>
          <a:prstGeom prst="rect">
            <a:avLst/>
          </a:prstGeom>
          <a:noFill/>
          <a:ln/>
        </p:spPr>
        <p:txBody>
          <a:bodyPr wrap="square" lIns="0" tIns="0" rIns="0" bIns="0" rtlCol="0" anchor="t"/>
          <a:lstStyle/>
          <a:p>
            <a:pPr indent="0" marL="0">
              <a:buNone/>
            </a:pPr>
            <a:r>
              <a:rPr lang="en-US" sz="1400" dirty="0">
                <a:solidFill>
                  <a:schemeClr val="tx1"/>
                </a:solidFill>
                <a:latin typeface="Consolas" pitchFamily="34" charset="0"/>
                <a:ea typeface="Consolas" pitchFamily="34" charset="-122"/>
                <a:cs typeface="Consolas" pitchFamily="34" charset="-120"/>
              </a:rPr>
              <a: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758952" y="566928"/>
            <a:ext cx="10671048" cy="274320"/>
          </a:xfrm>
          <a:prstGeom prst="rect">
            <a:avLst/>
          </a:prstGeom>
          <a:noFill/>
          <a:ln/>
        </p:spPr>
        <p:txBody>
          <a:bodyPr wrap="square" lIns="0" tIns="0" rIns="0" bIns="0" rtlCol="0" anchor="t"/>
          <a:lstStyle/>
          <a:p>
            <a:pPr indent="0" marL="0">
              <a:buNone/>
            </a:pPr>
            <a:r>
              <a:rPr lang="en-US" sz="1100" spc="200" kern="0" dirty="0">
                <a:solidFill>
                  <a:schemeClr val="tx2"/>
                </a:solidFill>
                <a:latin typeface="Consolas" pitchFamily="34" charset="0"/>
                <a:ea typeface="Consolas" pitchFamily="34" charset="-122"/>
                <a:cs typeface="Consolas" pitchFamily="34" charset="-120"/>
              </a:rPr>
              <a:t>WHY THIS MATTERS</a:t>
            </a:r>
            <a:endParaRPr lang="en-US" sz="1100" dirty="0"/>
          </a:p>
        </p:txBody>
      </p:sp>
      <p:sp>
        <p:nvSpPr>
          <p:cNvPr id="3" name="Text 0"/>
          <p:cNvSpPr/>
          <p:nvPr>
            <p:ph idx="101" type="title" hasCustomPrompt="1"/>
          </p:nvPr>
        </p:nvSpPr>
        <p:spPr>
          <a:xfrm>
            <a:off x="758952" y="868680"/>
            <a:ext cx="10671048" cy="1005840"/>
          </a:xfrm>
          <a:prstGeom prst="rect">
            <a:avLst/>
          </a:prstGeom>
          <a:noFill/>
          <a:ln/>
        </p:spPr>
        <p:txBody>
          <a:bodyPr wrap="square" lIns="0" tIns="0" rIns="0" bIns="0" rtlCol="0" anchor="t"/>
          <a:lstStyle/>
          <a:p>
            <a:pPr algn="l" indent="0" marL="0">
              <a:lnSpc>
                <a:spcPct val="95000"/>
              </a:lnSpc>
              <a:buNone/>
            </a:pPr>
            <a:r>
              <a:rPr lang="en-US" sz="3200" b="1" dirty="0">
                <a:solidFill>
                  <a:schemeClr val="tx1"/>
                </a:solidFill>
              </a:rPr>
              <a:t>AI is climbing a ladder of human-likeness</a:t>
            </a:r>
            <a:endParaRPr lang="en-US" sz="3200" dirty="0"/>
          </a:p>
        </p:txBody>
      </p:sp>
      <p:sp>
        <p:nvSpPr>
          <p:cNvPr id="5" name="Text rung"/>
          <p:cNvSpPr/>
          <p:nvPr/>
        </p:nvSpPr>
        <p:spPr>
          <a:xfrm>
            <a:off x="758952" y="3429000"/>
            <a:ext cx="3355848" cy="59436"/>
          </a:xfrm>
          <a:prstGeom prst="rect">
            <a:avLst/>
          </a:prstGeom>
          <a:solidFill>
            <a:schemeClr val="accent1"/>
          </a:solidFill>
          <a:ln/>
        </p:spPr>
      </p:sp>
      <p:pic>
        <p:nvPicPr>
          <p:cNvPr id="6" name="text icon" descr="text ic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8952" y="3611880"/>
            <a:ext cx="640080" cy="640080"/>
          </a:xfrm>
          <a:prstGeom prst="rect">
            <a:avLst/>
          </a:prstGeom>
        </p:spPr>
      </p:pic>
      <p:sp>
        <p:nvSpPr>
          <p:cNvPr id="7" name="Text 3"/>
          <p:cNvSpPr txBox="1"/>
          <p:nvPr/>
        </p:nvSpPr>
        <p:spPr>
          <a:xfrm>
            <a:off x="758952" y="4343400"/>
            <a:ext cx="3355848" cy="41148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Text</a:t>
            </a:r>
            <a:endParaRPr lang="en-US" sz="2200" dirty="0"/>
          </a:p>
        </p:txBody>
      </p:sp>
      <p:sp>
        <p:nvSpPr>
          <p:cNvPr id="8" name="Text 4"/>
          <p:cNvSpPr txBox="1"/>
          <p:nvPr/>
        </p:nvSpPr>
        <p:spPr>
          <a:xfrm>
            <a:off x="758952" y="4800600"/>
            <a:ext cx="3264408" cy="1097280"/>
          </a:xfrm>
          <a:prstGeom prst="rect">
            <a:avLst/>
          </a:prstGeom>
          <a:noFill/>
          <a:ln/>
        </p:spPr>
        <p:txBody>
          <a:bodyPr wrap="square" lIns="0" tIns="0" rIns="0" bIns="0" rtlCol="0" anchor="t"/>
          <a:lstStyle/>
          <a:p>
            <a:pPr indent="0" marL="0">
              <a:buNone/>
            </a:pPr>
            <a:r>
              <a:rPr lang="en-US" sz="1500" dirty="0">
                <a:solidFill>
                  <a:schemeClr val="tx2"/>
                </a:solidFill>
              </a:rPr>
              <a:t>Read at your own pace. Easy to re-check a sentence.</a:t>
            </a:r>
            <a:endParaRPr lang="en-US" sz="1500" dirty="0"/>
          </a:p>
        </p:txBody>
      </p:sp>
      <p:sp>
        <p:nvSpPr>
          <p:cNvPr id="9" name="Voice rung"/>
          <p:cNvSpPr/>
          <p:nvPr/>
        </p:nvSpPr>
        <p:spPr>
          <a:xfrm>
            <a:off x="4416552" y="2926080"/>
            <a:ext cx="3355848" cy="59436"/>
          </a:xfrm>
          <a:prstGeom prst="rect">
            <a:avLst/>
          </a:prstGeom>
          <a:solidFill>
            <a:schemeClr val="accent2"/>
          </a:solidFill>
          <a:ln/>
        </p:spPr>
      </p:sp>
      <p:pic>
        <p:nvPicPr>
          <p:cNvPr id="10" name="voice icon" descr="voice icon">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16552" y="3108960"/>
            <a:ext cx="640080" cy="640080"/>
          </a:xfrm>
          <a:prstGeom prst="rect">
            <a:avLst/>
          </a:prstGeom>
        </p:spPr>
      </p:pic>
      <p:sp>
        <p:nvSpPr>
          <p:cNvPr id="11" name="Text 6"/>
          <p:cNvSpPr txBox="1"/>
          <p:nvPr/>
        </p:nvSpPr>
        <p:spPr>
          <a:xfrm>
            <a:off x="4416552" y="3840480"/>
            <a:ext cx="3355848" cy="41148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Voice</a:t>
            </a:r>
            <a:endParaRPr lang="en-US" sz="2200" dirty="0"/>
          </a:p>
        </p:txBody>
      </p:sp>
      <p:sp>
        <p:nvSpPr>
          <p:cNvPr id="12" name="Text 7"/>
          <p:cNvSpPr txBox="1"/>
          <p:nvPr/>
        </p:nvSpPr>
        <p:spPr>
          <a:xfrm>
            <a:off x="4416552" y="4297680"/>
            <a:ext cx="3264408" cy="1097280"/>
          </a:xfrm>
          <a:prstGeom prst="rect">
            <a:avLst/>
          </a:prstGeom>
          <a:noFill/>
          <a:ln/>
        </p:spPr>
        <p:txBody>
          <a:bodyPr wrap="square" lIns="0" tIns="0" rIns="0" bIns="0" rtlCol="0" anchor="t"/>
          <a:lstStyle/>
          <a:p>
            <a:pPr indent="0" marL="0">
              <a:buNone/>
            </a:pPr>
            <a:r>
              <a:rPr lang="en-US" sz="1500" dirty="0">
                <a:solidFill>
                  <a:schemeClr val="tx2"/>
                </a:solidFill>
              </a:rPr>
              <a:t>Feels like a person talking. Passes once, harder to re-check.</a:t>
            </a:r>
            <a:endParaRPr lang="en-US" sz="1500" dirty="0"/>
          </a:p>
        </p:txBody>
      </p:sp>
      <p:sp>
        <p:nvSpPr>
          <p:cNvPr id="13" name="Face-to-face rung"/>
          <p:cNvSpPr/>
          <p:nvPr/>
        </p:nvSpPr>
        <p:spPr>
          <a:xfrm>
            <a:off x="8074152" y="2377440"/>
            <a:ext cx="3355848" cy="59436"/>
          </a:xfrm>
          <a:prstGeom prst="rect">
            <a:avLst/>
          </a:prstGeom>
          <a:solidFill>
            <a:schemeClr val="accent3"/>
          </a:solidFill>
          <a:ln/>
        </p:spPr>
      </p:sp>
      <p:pic>
        <p:nvPicPr>
          <p:cNvPr id="14" name="face icon" descr="face icon">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74152" y="2560320"/>
            <a:ext cx="640080" cy="640080"/>
          </a:xfrm>
          <a:prstGeom prst="rect">
            <a:avLst/>
          </a:prstGeom>
        </p:spPr>
      </p:pic>
      <p:sp>
        <p:nvSpPr>
          <p:cNvPr id="15" name="Text 9"/>
          <p:cNvSpPr txBox="1"/>
          <p:nvPr/>
        </p:nvSpPr>
        <p:spPr>
          <a:xfrm>
            <a:off x="8074152" y="3291840"/>
            <a:ext cx="3355848" cy="41148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Face-to-face</a:t>
            </a:r>
            <a:endParaRPr lang="en-US" sz="2200" dirty="0"/>
          </a:p>
        </p:txBody>
      </p:sp>
      <p:sp>
        <p:nvSpPr>
          <p:cNvPr id="16" name="Text 10"/>
          <p:cNvSpPr txBox="1"/>
          <p:nvPr/>
        </p:nvSpPr>
        <p:spPr>
          <a:xfrm>
            <a:off x="8074152" y="3749040"/>
            <a:ext cx="3264408" cy="1097280"/>
          </a:xfrm>
          <a:prstGeom prst="rect">
            <a:avLst/>
          </a:prstGeom>
          <a:noFill/>
          <a:ln/>
        </p:spPr>
        <p:txBody>
          <a:bodyPr wrap="square" lIns="0" tIns="0" rIns="0" bIns="0" rtlCol="0" anchor="t"/>
          <a:lstStyle/>
          <a:p>
            <a:pPr indent="0" marL="0">
              <a:buNone/>
            </a:pPr>
            <a:r>
              <a:rPr lang="en-US" sz="1500" dirty="0">
                <a:solidFill>
                  <a:schemeClr val="tx2"/>
                </a:solidFill>
              </a:rPr>
              <a:t>Eye contact and expression add social cues. </a:t>
            </a:r>
            <a:pPr indent="0" marL="0">
              <a:buNone/>
            </a:pPr>
            <a:r>
              <a:rPr lang="en-US" sz="1500" b="1" dirty="0">
                <a:solidFill>
                  <a:schemeClr val="tx1"/>
                </a:solidFill>
              </a:rPr>
              <a:t>Oct 2026: 26 of 54 people on a one-minute video call thought an AI avatar was human.</a:t>
            </a:r>
            <a:endParaRPr lang="en-US" sz="1500" dirty="0"/>
          </a:p>
        </p:txBody>
      </p:sp>
      <p:sp>
        <p:nvSpPr>
          <p:cNvPr id="17" name="Text 11"/>
          <p:cNvSpPr txBox="1"/>
          <p:nvPr/>
        </p:nvSpPr>
        <p:spPr>
          <a:xfrm>
            <a:off x="758952" y="5669280"/>
            <a:ext cx="6949440" cy="457200"/>
          </a:xfrm>
          <a:prstGeom prst="rect">
            <a:avLst/>
          </a:prstGeom>
          <a:noFill/>
          <a:ln/>
        </p:spPr>
        <p:txBody>
          <a:bodyPr wrap="square" lIns="0" tIns="0" rIns="0" bIns="0" rtlCol="0" anchor="t"/>
          <a:lstStyle/>
          <a:p>
            <a:pPr indent="0" marL="0">
              <a:buNone/>
            </a:pPr>
            <a:r>
              <a:rPr lang="en-US" sz="1500" dirty="0">
                <a:solidFill>
                  <a:schemeClr val="tx2"/>
                </a:solidFill>
              </a:rPr>
              <a:t>Each step feels more natural. Does it also make people </a:t>
            </a:r>
            <a:pPr indent="0" marL="0">
              <a:buNone/>
            </a:pPr>
            <a:r>
              <a:rPr lang="en-US" sz="1500" b="1" dirty="0">
                <a:solidFill>
                  <a:schemeClr val="tx1"/>
                </a:solidFill>
              </a:rPr>
              <a:t>accept errors more easily</a:t>
            </a:r>
            <a:pPr indent="0" marL="0">
              <a:buNone/>
            </a:pPr>
            <a:r>
              <a:rPr lang="en-US" sz="1500" dirty="0">
                <a:solidFill>
                  <a:schemeClr val="tx2"/>
                </a:solidFill>
              </a:rPr>
              <a:t>?</a:t>
            </a:r>
            <a:endParaRPr lang="en-US" sz="1500" dirty="0"/>
          </a:p>
        </p:txBody>
      </p:sp>
      <p:sp>
        <p:nvSpPr>
          <p:cNvPr id="18" name="Text 12"/>
          <p:cNvSpPr txBox="1"/>
          <p:nvPr/>
        </p:nvSpPr>
        <p:spPr>
          <a:xfrm>
            <a:off x="7223760" y="5715000"/>
            <a:ext cx="4206240" cy="274320"/>
          </a:xfrm>
          <a:prstGeom prst="rect">
            <a:avLst/>
          </a:prstGeom>
          <a:noFill/>
          <a:ln/>
        </p:spPr>
        <p:txBody>
          <a:bodyPr wrap="square" lIns="0" tIns="0" rIns="0" bIns="0" rtlCol="0" anchor="t"/>
          <a:lstStyle/>
          <a:p>
            <a:pPr algn="r" indent="0" marL="0">
              <a:buNone/>
            </a:pPr>
            <a:r>
              <a:rPr lang="en-US" sz="1000" dirty="0">
                <a:solidFill>
                  <a:schemeClr val="tx2"/>
                </a:solidFill>
                <a:latin typeface="Consolas" pitchFamily="34" charset="0"/>
                <a:ea typeface="Consolas" pitchFamily="34" charset="-122"/>
                <a:cs typeface="Consolas" pitchFamily="34" charset="-120"/>
              </a:rPr>
              <a:t>Tavus Research, “Griffin”, 1 Oct 2026 (self-reported)</a:t>
            </a:r>
            <a:endParaRPr lang="en-US" sz="1000" dirty="0"/>
          </a:p>
        </p:txBody>
      </p:sp>
      <p:sp>
        <p:nvSpPr>
          <p:cNvPr id="25" name="Slide Number Placeholder 0"/>
          <p:cNvSpPr>
            <a:spLocks noGrp="1"/>
          </p:cNvSpPr>
          <p:nvPr>
            <p:ph type="sldNum" sz="quarter" idx="4294967295"/>
          </p:nvPr>
        </p:nvSpPr>
        <p:spPr>
          <a:xfrm>
            <a:off x="10881360" y="635508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58952" y="566928"/>
            <a:ext cx="10671048" cy="274320"/>
          </a:xfrm>
          <a:prstGeom prst="rect">
            <a:avLst/>
          </a:prstGeom>
          <a:noFill/>
          <a:ln/>
        </p:spPr>
        <p:txBody>
          <a:bodyPr wrap="square" lIns="0" tIns="0" rIns="0" bIns="0" rtlCol="0" anchor="t"/>
          <a:lstStyle/>
          <a:p>
            <a:pPr indent="0" marL="0">
              <a:buNone/>
            </a:pPr>
            <a:r>
              <a:rPr lang="en-US" sz="1100" spc="200" kern="0" dirty="0">
                <a:solidFill>
                  <a:schemeClr val="tx2"/>
                </a:solidFill>
                <a:latin typeface="Consolas" pitchFamily="34" charset="0"/>
                <a:ea typeface="Consolas" pitchFamily="34" charset="-122"/>
                <a:cs typeface="Consolas" pitchFamily="34" charset="-120"/>
              </a:rPr>
              <a:t>WHAT WE ALREADY KNOW</a:t>
            </a:r>
            <a:endParaRPr lang="en-US" sz="1100" dirty="0"/>
          </a:p>
        </p:txBody>
      </p:sp>
      <p:sp>
        <p:nvSpPr>
          <p:cNvPr id="3" name="Text 0"/>
          <p:cNvSpPr/>
          <p:nvPr>
            <p:ph idx="101" type="title" hasCustomPrompt="1"/>
          </p:nvPr>
        </p:nvSpPr>
        <p:spPr>
          <a:xfrm>
            <a:off x="758952" y="868680"/>
            <a:ext cx="10671048" cy="1005840"/>
          </a:xfrm>
          <a:prstGeom prst="rect">
            <a:avLst/>
          </a:prstGeom>
          <a:noFill/>
          <a:ln/>
        </p:spPr>
        <p:txBody>
          <a:bodyPr wrap="square" lIns="0" tIns="0" rIns="0" bIns="0" rtlCol="0" anchor="t"/>
          <a:lstStyle/>
          <a:p>
            <a:pPr algn="l" indent="0" marL="0">
              <a:lnSpc>
                <a:spcPct val="95000"/>
              </a:lnSpc>
              <a:buNone/>
            </a:pPr>
            <a:r>
              <a:rPr lang="en-US" sz="3200" b="1" dirty="0">
                <a:solidFill>
                  <a:schemeClr val="tx1"/>
                </a:solidFill>
              </a:rPr>
              <a:t>Explanations persuade, and a voice persuades more</a:t>
            </a:r>
            <a:endParaRPr lang="en-US" sz="3200" dirty="0"/>
          </a:p>
        </p:txBody>
      </p:sp>
      <p:sp>
        <p:nvSpPr>
          <p:cNvPr id="5" name="Text 2"/>
          <p:cNvSpPr txBox="1"/>
          <p:nvPr/>
        </p:nvSpPr>
        <p:spPr>
          <a:xfrm>
            <a:off x="758952" y="2103120"/>
            <a:ext cx="7223760" cy="548640"/>
          </a:xfrm>
          <a:prstGeom prst="rect">
            <a:avLst/>
          </a:prstGeom>
          <a:noFill/>
          <a:ln/>
        </p:spPr>
        <p:txBody>
          <a:bodyPr wrap="square" lIns="0" tIns="0" rIns="0" bIns="0" rtlCol="0" anchor="ctr"/>
          <a:lstStyle/>
          <a:p>
            <a:pPr indent="0" marL="0">
              <a:buNone/>
            </a:pPr>
            <a:r>
              <a:rPr lang="en-US" sz="1600" dirty="0">
                <a:solidFill>
                  <a:schemeClr val="tx1"/>
                </a:solidFill>
              </a:rPr>
              <a:t>On average, human + AI teams do worse than the best of the two alone, especially on decisions.</a:t>
            </a:r>
            <a:endParaRPr lang="en-US" sz="1600" dirty="0"/>
          </a:p>
        </p:txBody>
      </p:sp>
      <p:sp>
        <p:nvSpPr>
          <p:cNvPr id="6" name="Text 3"/>
          <p:cNvSpPr txBox="1"/>
          <p:nvPr/>
        </p:nvSpPr>
        <p:spPr>
          <a:xfrm>
            <a:off x="8321040" y="2103120"/>
            <a:ext cx="3108960" cy="548640"/>
          </a:xfrm>
          <a:prstGeom prst="rect">
            <a:avLst/>
          </a:prstGeom>
          <a:noFill/>
          <a:ln/>
        </p:spPr>
        <p:txBody>
          <a:bodyPr wrap="square" lIns="0" tIns="0" rIns="0" bIns="0" rtlCol="0" anchor="ctr"/>
          <a:lstStyle/>
          <a:p>
            <a:pPr indent="0" marL="0">
              <a:buNone/>
            </a:pPr>
            <a:r>
              <a:rPr lang="en-US" sz="1050" dirty="0">
                <a:solidFill>
                  <a:schemeClr val="tx2"/>
                </a:solidFill>
                <a:latin typeface="Consolas" pitchFamily="34" charset="0"/>
                <a:ea typeface="Consolas" pitchFamily="34" charset="-122"/>
                <a:cs typeface="Consolas" pitchFamily="34" charset="-120"/>
              </a:rPr>
              <a:t>Vaccaro, Almaatouq &amp; Malone, Nature Hum. Behav. 2024 · meta-analysis, 106 experiments</a:t>
            </a:r>
            <a:endParaRPr lang="en-US" sz="1050" dirty="0"/>
          </a:p>
        </p:txBody>
      </p:sp>
      <p:sp>
        <p:nvSpPr>
          <p:cNvPr id="7" name="Shape 4"/>
          <p:cNvSpPr/>
          <p:nvPr/>
        </p:nvSpPr>
        <p:spPr>
          <a:xfrm>
            <a:off x="758952" y="2743200"/>
            <a:ext cx="10671048" cy="0"/>
          </a:xfrm>
          <a:prstGeom prst="line">
            <a:avLst/>
          </a:prstGeom>
          <a:noFill/>
          <a:ln w="9525">
            <a:solidFill>
              <a:schemeClr val="accent6"/>
            </a:solidFill>
            <a:prstDash val="solid"/>
          </a:ln>
        </p:spPr>
      </p:sp>
      <p:sp>
        <p:nvSpPr>
          <p:cNvPr id="8" name="Text 5"/>
          <p:cNvSpPr txBox="1"/>
          <p:nvPr/>
        </p:nvSpPr>
        <p:spPr>
          <a:xfrm>
            <a:off x="758952" y="2834640"/>
            <a:ext cx="7223760" cy="548640"/>
          </a:xfrm>
          <a:prstGeom prst="rect">
            <a:avLst/>
          </a:prstGeom>
          <a:noFill/>
          <a:ln/>
        </p:spPr>
        <p:txBody>
          <a:bodyPr wrap="square" lIns="0" tIns="0" rIns="0" bIns="0" rtlCol="0" anchor="ctr"/>
          <a:lstStyle/>
          <a:p>
            <a:pPr indent="0" marL="0">
              <a:buNone/>
            </a:pPr>
            <a:r>
              <a:rPr lang="en-US" sz="1600" dirty="0">
                <a:solidFill>
                  <a:schemeClr val="tx1"/>
                </a:solidFill>
              </a:rPr>
              <a:t>Explanations make people accept AI advice more, also when the AI is wrong.</a:t>
            </a:r>
            <a:endParaRPr lang="en-US" sz="1600" dirty="0"/>
          </a:p>
        </p:txBody>
      </p:sp>
      <p:sp>
        <p:nvSpPr>
          <p:cNvPr id="9" name="Text 6"/>
          <p:cNvSpPr txBox="1"/>
          <p:nvPr/>
        </p:nvSpPr>
        <p:spPr>
          <a:xfrm>
            <a:off x="8321040" y="2834640"/>
            <a:ext cx="3108960" cy="548640"/>
          </a:xfrm>
          <a:prstGeom prst="rect">
            <a:avLst/>
          </a:prstGeom>
          <a:noFill/>
          <a:ln/>
        </p:spPr>
        <p:txBody>
          <a:bodyPr wrap="square" lIns="0" tIns="0" rIns="0" bIns="0" rtlCol="0" anchor="ctr"/>
          <a:lstStyle/>
          <a:p>
            <a:pPr indent="0" marL="0">
              <a:buNone/>
            </a:pPr>
            <a:r>
              <a:rPr lang="en-US" sz="1050" dirty="0">
                <a:solidFill>
                  <a:schemeClr val="tx2"/>
                </a:solidFill>
                <a:latin typeface="Consolas" pitchFamily="34" charset="0"/>
                <a:ea typeface="Consolas" pitchFamily="34" charset="-122"/>
                <a:cs typeface="Consolas" pitchFamily="34" charset="-120"/>
              </a:rPr>
              <a:t>Bansal et al., CHI 2021</a:t>
            </a:r>
            <a:endParaRPr lang="en-US" sz="1050" dirty="0"/>
          </a:p>
        </p:txBody>
      </p:sp>
      <p:sp>
        <p:nvSpPr>
          <p:cNvPr id="10" name="Shape 7"/>
          <p:cNvSpPr/>
          <p:nvPr/>
        </p:nvSpPr>
        <p:spPr>
          <a:xfrm>
            <a:off x="758952" y="3474720"/>
            <a:ext cx="10671048" cy="0"/>
          </a:xfrm>
          <a:prstGeom prst="line">
            <a:avLst/>
          </a:prstGeom>
          <a:noFill/>
          <a:ln w="9525">
            <a:solidFill>
              <a:schemeClr val="accent6"/>
            </a:solidFill>
            <a:prstDash val="solid"/>
          </a:ln>
        </p:spPr>
      </p:sp>
      <p:sp>
        <p:nvSpPr>
          <p:cNvPr id="11" name="Text 8"/>
          <p:cNvSpPr txBox="1"/>
          <p:nvPr/>
        </p:nvSpPr>
        <p:spPr>
          <a:xfrm>
            <a:off x="758952" y="3566160"/>
            <a:ext cx="7223760" cy="548640"/>
          </a:xfrm>
          <a:prstGeom prst="rect">
            <a:avLst/>
          </a:prstGeom>
          <a:noFill/>
          <a:ln/>
        </p:spPr>
        <p:txBody>
          <a:bodyPr wrap="square" lIns="0" tIns="0" rIns="0" bIns="0" rtlCol="0" anchor="ctr"/>
          <a:lstStyle/>
          <a:p>
            <a:pPr indent="0" marL="0">
              <a:buNone/>
            </a:pPr>
            <a:r>
              <a:rPr lang="en-US" sz="1600" dirty="0">
                <a:solidFill>
                  <a:schemeClr val="tx1"/>
                </a:solidFill>
              </a:rPr>
              <a:t>Making people think first reduces over-reliance, but users like that design least.</a:t>
            </a:r>
            <a:endParaRPr lang="en-US" sz="1600" dirty="0"/>
          </a:p>
        </p:txBody>
      </p:sp>
      <p:sp>
        <p:nvSpPr>
          <p:cNvPr id="12" name="Text 9"/>
          <p:cNvSpPr txBox="1"/>
          <p:nvPr/>
        </p:nvSpPr>
        <p:spPr>
          <a:xfrm>
            <a:off x="8321040" y="3566160"/>
            <a:ext cx="3108960" cy="548640"/>
          </a:xfrm>
          <a:prstGeom prst="rect">
            <a:avLst/>
          </a:prstGeom>
          <a:noFill/>
          <a:ln/>
        </p:spPr>
        <p:txBody>
          <a:bodyPr wrap="square" lIns="0" tIns="0" rIns="0" bIns="0" rtlCol="0" anchor="ctr"/>
          <a:lstStyle/>
          <a:p>
            <a:pPr indent="0" marL="0">
              <a:buNone/>
            </a:pPr>
            <a:r>
              <a:rPr lang="en-US" sz="1050" dirty="0">
                <a:solidFill>
                  <a:schemeClr val="tx2"/>
                </a:solidFill>
                <a:latin typeface="Consolas" pitchFamily="34" charset="0"/>
                <a:ea typeface="Consolas" pitchFamily="34" charset="-122"/>
                <a:cs typeface="Consolas" pitchFamily="34" charset="-120"/>
              </a:rPr>
              <a:t>Buçinca, Malaya &amp; Gajos, CSCW 2021</a:t>
            </a:r>
            <a:endParaRPr lang="en-US" sz="1050" dirty="0"/>
          </a:p>
        </p:txBody>
      </p:sp>
      <p:sp>
        <p:nvSpPr>
          <p:cNvPr id="13" name="Shape 10"/>
          <p:cNvSpPr/>
          <p:nvPr/>
        </p:nvSpPr>
        <p:spPr>
          <a:xfrm>
            <a:off x="758952" y="4206240"/>
            <a:ext cx="10671048" cy="0"/>
          </a:xfrm>
          <a:prstGeom prst="line">
            <a:avLst/>
          </a:prstGeom>
          <a:noFill/>
          <a:ln w="9525">
            <a:solidFill>
              <a:schemeClr val="accent6"/>
            </a:solidFill>
            <a:prstDash val="solid"/>
          </a:ln>
        </p:spPr>
      </p:sp>
      <p:sp>
        <p:nvSpPr>
          <p:cNvPr id="14" name="Text 11"/>
          <p:cNvSpPr txBox="1"/>
          <p:nvPr/>
        </p:nvSpPr>
        <p:spPr>
          <a:xfrm>
            <a:off x="758952" y="4297680"/>
            <a:ext cx="7223760" cy="548640"/>
          </a:xfrm>
          <a:prstGeom prst="rect">
            <a:avLst/>
          </a:prstGeom>
          <a:noFill/>
          <a:ln/>
        </p:spPr>
        <p:txBody>
          <a:bodyPr wrap="square" lIns="0" tIns="0" rIns="0" bIns="0" rtlCol="0" anchor="ctr"/>
          <a:lstStyle/>
          <a:p>
            <a:pPr indent="0" marL="0">
              <a:buNone/>
            </a:pPr>
            <a:r>
              <a:rPr lang="en-US" sz="1600" dirty="0">
                <a:solidFill>
                  <a:schemeClr val="tx1"/>
                </a:solidFill>
              </a:rPr>
              <a:t>People treat computers as social actors, and the same words sound more competent when spoken.</a:t>
            </a:r>
            <a:endParaRPr lang="en-US" sz="1600" dirty="0"/>
          </a:p>
        </p:txBody>
      </p:sp>
      <p:sp>
        <p:nvSpPr>
          <p:cNvPr id="15" name="Text 12"/>
          <p:cNvSpPr txBox="1"/>
          <p:nvPr/>
        </p:nvSpPr>
        <p:spPr>
          <a:xfrm>
            <a:off x="8321040" y="4297680"/>
            <a:ext cx="3108960" cy="548640"/>
          </a:xfrm>
          <a:prstGeom prst="rect">
            <a:avLst/>
          </a:prstGeom>
          <a:noFill/>
          <a:ln/>
        </p:spPr>
        <p:txBody>
          <a:bodyPr wrap="square" lIns="0" tIns="0" rIns="0" bIns="0" rtlCol="0" anchor="ctr"/>
          <a:lstStyle/>
          <a:p>
            <a:pPr indent="0" marL="0">
              <a:buNone/>
            </a:pPr>
            <a:r>
              <a:rPr lang="en-US" sz="1050" dirty="0">
                <a:solidFill>
                  <a:schemeClr val="tx2"/>
                </a:solidFill>
                <a:latin typeface="Consolas" pitchFamily="34" charset="0"/>
                <a:ea typeface="Consolas" pitchFamily="34" charset="-122"/>
                <a:cs typeface="Consolas" pitchFamily="34" charset="-120"/>
              </a:rPr>
              <a:t>Reeves &amp; Nass 1996 · Schroeder &amp; Epley, Psych. Science 2015</a:t>
            </a:r>
            <a:endParaRPr lang="en-US" sz="1050" dirty="0"/>
          </a:p>
        </p:txBody>
      </p:sp>
      <p:sp>
        <p:nvSpPr>
          <p:cNvPr id="16" name="Shape 13"/>
          <p:cNvSpPr/>
          <p:nvPr/>
        </p:nvSpPr>
        <p:spPr>
          <a:xfrm>
            <a:off x="758952" y="4937760"/>
            <a:ext cx="10671048" cy="0"/>
          </a:xfrm>
          <a:prstGeom prst="line">
            <a:avLst/>
          </a:prstGeom>
          <a:noFill/>
          <a:ln w="9525">
            <a:solidFill>
              <a:schemeClr val="accent6"/>
            </a:solidFill>
            <a:prstDash val="solid"/>
          </a:ln>
        </p:spPr>
      </p:sp>
      <p:sp>
        <p:nvSpPr>
          <p:cNvPr id="17" name="gap callout"/>
          <p:cNvSpPr/>
          <p:nvPr/>
        </p:nvSpPr>
        <p:spPr>
          <a:xfrm>
            <a:off x="758952" y="5120640"/>
            <a:ext cx="10671048" cy="868680"/>
          </a:xfrm>
          <a:prstGeom prst="roundRect">
            <a:avLst>
              <a:gd name="adj" fmla="val 5263"/>
            </a:avLst>
          </a:prstGeom>
          <a:solidFill>
            <a:schemeClr val="accent5"/>
          </a:solidFill>
          <a:ln/>
        </p:spPr>
      </p:sp>
      <p:sp>
        <p:nvSpPr>
          <p:cNvPr id="18" name="Text 15"/>
          <p:cNvSpPr txBox="1"/>
          <p:nvPr/>
        </p:nvSpPr>
        <p:spPr>
          <a:xfrm>
            <a:off x="1033272" y="5120640"/>
            <a:ext cx="10122408" cy="868680"/>
          </a:xfrm>
          <a:prstGeom prst="rect">
            <a:avLst/>
          </a:prstGeom>
          <a:noFill/>
          <a:ln/>
        </p:spPr>
        <p:txBody>
          <a:bodyPr wrap="square" lIns="0" tIns="0" rIns="0" bIns="0" rtlCol="0" anchor="ctr"/>
          <a:lstStyle/>
          <a:p>
            <a:pPr indent="0" marL="0">
              <a:buNone/>
            </a:pPr>
            <a:r>
              <a:rPr lang="en-US" sz="1600" b="1" dirty="0">
                <a:solidFill>
                  <a:schemeClr val="accent4"/>
                </a:solidFill>
              </a:rPr>
              <a:t>The gap: </a:t>
            </a:r>
            <a:pPr indent="0" marL="0">
              <a:buNone/>
            </a:pPr>
            <a:r>
              <a:rPr lang="en-US" sz="1600" dirty="0">
                <a:solidFill>
                  <a:schemeClr val="tx1"/>
                </a:solidFill>
              </a:rPr>
              <a:t>this work is almost all text. Few studies deliver the </a:t>
            </a:r>
            <a:pPr indent="0" marL="0">
              <a:buNone/>
            </a:pPr>
            <a:r>
              <a:rPr lang="en-US" sz="1600" i="1" dirty="0">
                <a:solidFill>
                  <a:schemeClr val="tx1"/>
                </a:solidFill>
              </a:rPr>
              <a:t>same</a:t>
            </a:r>
            <a:pPr indent="0" marL="0">
              <a:buNone/>
            </a:pPr>
            <a:r>
              <a:rPr lang="en-US" sz="1600" dirty="0">
                <a:solidFill>
                  <a:schemeClr val="tx1"/>
                </a:solidFill>
              </a:rPr>
              <a:t> explanation as text, voice and face, and measure whether people take over its mistakes.</a:t>
            </a:r>
            <a:endParaRPr lang="en-US" sz="1600" dirty="0"/>
          </a:p>
        </p:txBody>
      </p:sp>
      <p:sp>
        <p:nvSpPr>
          <p:cNvPr id="25" name="Slide Number Placeholder 0"/>
          <p:cNvSpPr>
            <a:spLocks noGrp="1"/>
          </p:cNvSpPr>
          <p:nvPr>
            <p:ph type="sldNum" sz="quarter" idx="4294967295"/>
          </p:nvPr>
        </p:nvSpPr>
        <p:spPr>
          <a:xfrm>
            <a:off x="10881360" y="635508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58952" y="566928"/>
            <a:ext cx="10671048" cy="274320"/>
          </a:xfrm>
          <a:prstGeom prst="rect">
            <a:avLst/>
          </a:prstGeom>
          <a:noFill/>
          <a:ln/>
        </p:spPr>
        <p:txBody>
          <a:bodyPr wrap="square" lIns="0" tIns="0" rIns="0" bIns="0" rtlCol="0" anchor="t"/>
          <a:lstStyle/>
          <a:p>
            <a:pPr indent="0" marL="0">
              <a:buNone/>
            </a:pPr>
            <a:r>
              <a:rPr lang="en-US" sz="1100" spc="200" kern="0" dirty="0">
                <a:solidFill>
                  <a:schemeClr val="tx2"/>
                </a:solidFill>
                <a:latin typeface="Consolas" pitchFamily="34" charset="0"/>
                <a:ea typeface="Consolas" pitchFamily="34" charset="-122"/>
                <a:cs typeface="Consolas" pitchFamily="34" charset="-120"/>
              </a:rPr>
              <a:t>RESEARCH QUESTION</a:t>
            </a:r>
            <a:endParaRPr lang="en-US" sz="1100" dirty="0"/>
          </a:p>
        </p:txBody>
      </p:sp>
      <p:sp>
        <p:nvSpPr>
          <p:cNvPr id="3" name="Text 0"/>
          <p:cNvSpPr/>
          <p:nvPr>
            <p:ph idx="101" type="title" hasCustomPrompt="1"/>
          </p:nvPr>
        </p:nvSpPr>
        <p:spPr>
          <a:xfrm>
            <a:off x="758952" y="868680"/>
            <a:ext cx="10671048" cy="1005840"/>
          </a:xfrm>
          <a:prstGeom prst="rect">
            <a:avLst/>
          </a:prstGeom>
          <a:noFill/>
          <a:ln/>
        </p:spPr>
        <p:txBody>
          <a:bodyPr wrap="square" lIns="0" tIns="0" rIns="0" bIns="0" rtlCol="0" anchor="t"/>
          <a:lstStyle/>
          <a:p>
            <a:pPr algn="l" indent="0" marL="0">
              <a:lnSpc>
                <a:spcPct val="95000"/>
              </a:lnSpc>
              <a:buNone/>
            </a:pPr>
            <a:r>
              <a:rPr lang="en-US" sz="3200" b="1" dirty="0">
                <a:solidFill>
                  <a:schemeClr val="tx1"/>
                </a:solidFill>
              </a:rPr>
              <a:t>When people learn from an AI, does a more human-like format make them adopt its mistakes?</a:t>
            </a:r>
            <a:endParaRPr lang="en-US" sz="3200" dirty="0"/>
          </a:p>
        </p:txBody>
      </p:sp>
      <p:sp>
        <p:nvSpPr>
          <p:cNvPr id="5" name="hypothesis 1"/>
          <p:cNvSpPr/>
          <p:nvPr/>
        </p:nvSpPr>
        <p:spPr>
          <a:xfrm>
            <a:off x="758952" y="2148840"/>
            <a:ext cx="3355848" cy="2468880"/>
          </a:xfrm>
          <a:prstGeom prst="roundRect">
            <a:avLst>
              <a:gd name="adj" fmla="val 1852"/>
            </a:avLst>
          </a:prstGeom>
          <a:solidFill>
            <a:schemeClr val="bg1"/>
          </a:solidFill>
          <a:ln w="9525">
            <a:solidFill>
              <a:schemeClr val="accent6"/>
            </a:solidFill>
            <a:prstDash val="solid"/>
          </a:ln>
        </p:spPr>
      </p:sp>
      <p:sp>
        <p:nvSpPr>
          <p:cNvPr id="6" name="Text 3"/>
          <p:cNvSpPr txBox="1"/>
          <p:nvPr/>
        </p:nvSpPr>
        <p:spPr>
          <a:xfrm>
            <a:off x="987552" y="2377440"/>
            <a:ext cx="2926080" cy="274320"/>
          </a:xfrm>
          <a:prstGeom prst="rect">
            <a:avLst/>
          </a:prstGeom>
          <a:noFill/>
          <a:ln/>
        </p:spPr>
        <p:txBody>
          <a:bodyPr wrap="square" lIns="0" tIns="0" rIns="0" bIns="0" rtlCol="0" anchor="t"/>
          <a:lstStyle/>
          <a:p>
            <a:pPr indent="0" marL="0">
              <a:buNone/>
            </a:pPr>
            <a:r>
              <a:rPr lang="en-US" sz="1000" spc="100" kern="0" dirty="0">
                <a:solidFill>
                  <a:schemeClr val="tx2"/>
                </a:solidFill>
                <a:latin typeface="Consolas" pitchFamily="34" charset="0"/>
                <a:ea typeface="Consolas" pitchFamily="34" charset="-122"/>
                <a:cs typeface="Consolas" pitchFamily="34" charset="-120"/>
              </a:rPr>
              <a:t>TRUST</a:t>
            </a:r>
            <a:endParaRPr lang="en-US" sz="1000" dirty="0"/>
          </a:p>
        </p:txBody>
      </p:sp>
      <p:sp>
        <p:nvSpPr>
          <p:cNvPr id="7" name="Text 4"/>
          <p:cNvSpPr txBox="1"/>
          <p:nvPr/>
        </p:nvSpPr>
        <p:spPr>
          <a:xfrm>
            <a:off x="987552" y="2697480"/>
            <a:ext cx="2926080" cy="77724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Voice and face are trusted more</a:t>
            </a:r>
            <a:endParaRPr lang="en-US" sz="1900" dirty="0"/>
          </a:p>
        </p:txBody>
      </p:sp>
      <p:sp>
        <p:nvSpPr>
          <p:cNvPr id="8" name="Text 5"/>
          <p:cNvSpPr txBox="1"/>
          <p:nvPr/>
        </p:nvSpPr>
        <p:spPr>
          <a:xfrm>
            <a:off x="987552" y="3520440"/>
            <a:ext cx="2926080" cy="1005840"/>
          </a:xfrm>
          <a:prstGeom prst="rect">
            <a:avLst/>
          </a:prstGeom>
          <a:noFill/>
          <a:ln/>
        </p:spPr>
        <p:txBody>
          <a:bodyPr wrap="square" lIns="0" tIns="0" rIns="0" bIns="0" rtlCol="0" anchor="t"/>
          <a:lstStyle/>
          <a:p>
            <a:pPr indent="0" marL="0">
              <a:buNone/>
            </a:pPr>
            <a:r>
              <a:rPr lang="en-US" sz="1500" dirty="0">
                <a:solidFill>
                  <a:schemeClr val="tx2"/>
                </a:solidFill>
              </a:rPr>
              <a:t>Rated right after each explanation, before answering.</a:t>
            </a:r>
            <a:endParaRPr lang="en-US" sz="1500" dirty="0"/>
          </a:p>
        </p:txBody>
      </p:sp>
      <p:sp>
        <p:nvSpPr>
          <p:cNvPr id="9" name="hypothesis 2"/>
          <p:cNvSpPr/>
          <p:nvPr/>
        </p:nvSpPr>
        <p:spPr>
          <a:xfrm>
            <a:off x="4416552" y="2148840"/>
            <a:ext cx="3355848" cy="2468880"/>
          </a:xfrm>
          <a:prstGeom prst="roundRect">
            <a:avLst>
              <a:gd name="adj" fmla="val 1852"/>
            </a:avLst>
          </a:prstGeom>
          <a:solidFill>
            <a:schemeClr val="accent5"/>
          </a:solidFill>
          <a:ln w="15875">
            <a:solidFill>
              <a:schemeClr val="accent4"/>
            </a:solidFill>
            <a:prstDash val="solid"/>
          </a:ln>
        </p:spPr>
      </p:sp>
      <p:sp>
        <p:nvSpPr>
          <p:cNvPr id="10" name="Text 7"/>
          <p:cNvSpPr txBox="1"/>
          <p:nvPr/>
        </p:nvSpPr>
        <p:spPr>
          <a:xfrm>
            <a:off x="4645152" y="2377440"/>
            <a:ext cx="2926080" cy="274320"/>
          </a:xfrm>
          <a:prstGeom prst="rect">
            <a:avLst/>
          </a:prstGeom>
          <a:noFill/>
          <a:ln/>
        </p:spPr>
        <p:txBody>
          <a:bodyPr wrap="square" lIns="0" tIns="0" rIns="0" bIns="0" rtlCol="0" anchor="t"/>
          <a:lstStyle/>
          <a:p>
            <a:pPr indent="0" marL="0">
              <a:buNone/>
            </a:pPr>
            <a:r>
              <a:rPr lang="en-US" sz="1000" spc="100" kern="0" dirty="0">
                <a:solidFill>
                  <a:schemeClr val="accent4"/>
                </a:solidFill>
                <a:latin typeface="Consolas" pitchFamily="34" charset="0"/>
                <a:ea typeface="Consolas" pitchFamily="34" charset="-122"/>
                <a:cs typeface="Consolas" pitchFamily="34" charset="-120"/>
              </a:rPr>
              <a:t>MAIN HYPOTHESIS · FLAW ADOPTION</a:t>
            </a:r>
            <a:endParaRPr lang="en-US" sz="1000" dirty="0"/>
          </a:p>
        </p:txBody>
      </p:sp>
      <p:sp>
        <p:nvSpPr>
          <p:cNvPr id="11" name="Text 8"/>
          <p:cNvSpPr txBox="1"/>
          <p:nvPr/>
        </p:nvSpPr>
        <p:spPr>
          <a:xfrm>
            <a:off x="4645152" y="2697480"/>
            <a:ext cx="2926080" cy="77724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More human-like, more mistakes followed</a:t>
            </a:r>
            <a:endParaRPr lang="en-US" sz="1900" dirty="0"/>
          </a:p>
        </p:txBody>
      </p:sp>
      <p:sp>
        <p:nvSpPr>
          <p:cNvPr id="12" name="Text 9"/>
          <p:cNvSpPr txBox="1"/>
          <p:nvPr/>
        </p:nvSpPr>
        <p:spPr>
          <a:xfrm>
            <a:off x="4645152" y="3520440"/>
            <a:ext cx="2926080" cy="1005840"/>
          </a:xfrm>
          <a:prstGeom prst="rect">
            <a:avLst/>
          </a:prstGeom>
          <a:noFill/>
          <a:ln/>
        </p:spPr>
        <p:txBody>
          <a:bodyPr wrap="square" lIns="0" tIns="0" rIns="0" bIns="0" rtlCol="0" anchor="t"/>
          <a:lstStyle/>
          <a:p>
            <a:pPr indent="0" marL="0">
              <a:buNone/>
            </a:pPr>
            <a:r>
              <a:rPr lang="en-US" sz="1500" dirty="0">
                <a:solidFill>
                  <a:schemeClr val="tx2"/>
                </a:solidFill>
              </a:rPr>
              <a:t>With voice, and even more with a face, more people give the wrong answer the flaw leads to.</a:t>
            </a:r>
            <a:endParaRPr lang="en-US" sz="1500" dirty="0"/>
          </a:p>
        </p:txBody>
      </p:sp>
      <p:sp>
        <p:nvSpPr>
          <p:cNvPr id="13" name="hypothesis 3"/>
          <p:cNvSpPr/>
          <p:nvPr/>
        </p:nvSpPr>
        <p:spPr>
          <a:xfrm>
            <a:off x="8074152" y="2148840"/>
            <a:ext cx="3355848" cy="2468880"/>
          </a:xfrm>
          <a:prstGeom prst="roundRect">
            <a:avLst>
              <a:gd name="adj" fmla="val 1852"/>
            </a:avLst>
          </a:prstGeom>
          <a:solidFill>
            <a:schemeClr val="bg1"/>
          </a:solidFill>
          <a:ln w="9525">
            <a:solidFill>
              <a:schemeClr val="accent6"/>
            </a:solidFill>
            <a:prstDash val="solid"/>
          </a:ln>
        </p:spPr>
      </p:sp>
      <p:sp>
        <p:nvSpPr>
          <p:cNvPr id="14" name="Text 11"/>
          <p:cNvSpPr txBox="1"/>
          <p:nvPr/>
        </p:nvSpPr>
        <p:spPr>
          <a:xfrm>
            <a:off x="8302752" y="2377440"/>
            <a:ext cx="2926080" cy="274320"/>
          </a:xfrm>
          <a:prstGeom prst="rect">
            <a:avLst/>
          </a:prstGeom>
          <a:noFill/>
          <a:ln/>
        </p:spPr>
        <p:txBody>
          <a:bodyPr wrap="square" lIns="0" tIns="0" rIns="0" bIns="0" rtlCol="0" anchor="t"/>
          <a:lstStyle/>
          <a:p>
            <a:pPr indent="0" marL="0">
              <a:buNone/>
            </a:pPr>
            <a:r>
              <a:rPr lang="en-US" sz="1000" spc="100" kern="0" dirty="0">
                <a:solidFill>
                  <a:schemeClr val="tx2"/>
                </a:solidFill>
                <a:latin typeface="Consolas" pitchFamily="34" charset="0"/>
                <a:ea typeface="Consolas" pitchFamily="34" charset="-122"/>
                <a:cs typeface="Consolas" pitchFamily="34" charset="-120"/>
              </a:rPr>
              <a:t>DIFFICULTY</a:t>
            </a:r>
            <a:endParaRPr lang="en-US" sz="1000" dirty="0"/>
          </a:p>
        </p:txBody>
      </p:sp>
      <p:sp>
        <p:nvSpPr>
          <p:cNvPr id="15" name="Text 12"/>
          <p:cNvSpPr txBox="1"/>
          <p:nvPr/>
        </p:nvSpPr>
        <p:spPr>
          <a:xfrm>
            <a:off x="8302752" y="2697480"/>
            <a:ext cx="2926080" cy="77724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Bigger effect on harder questions</a:t>
            </a:r>
            <a:endParaRPr lang="en-US" sz="1900" dirty="0"/>
          </a:p>
        </p:txBody>
      </p:sp>
      <p:sp>
        <p:nvSpPr>
          <p:cNvPr id="16" name="Text 13"/>
          <p:cNvSpPr txBox="1"/>
          <p:nvPr/>
        </p:nvSpPr>
        <p:spPr>
          <a:xfrm>
            <a:off x="8302752" y="3520440"/>
            <a:ext cx="2926080" cy="1005840"/>
          </a:xfrm>
          <a:prstGeom prst="rect">
            <a:avLst/>
          </a:prstGeom>
          <a:noFill/>
          <a:ln/>
        </p:spPr>
        <p:txBody>
          <a:bodyPr wrap="square" lIns="0" tIns="0" rIns="0" bIns="0" rtlCol="0" anchor="t"/>
          <a:lstStyle/>
          <a:p>
            <a:pPr indent="0" marL="0">
              <a:buNone/>
            </a:pPr>
            <a:r>
              <a:rPr lang="en-US" sz="1500" dirty="0">
                <a:solidFill>
                  <a:schemeClr val="tx2"/>
                </a:solidFill>
              </a:rPr>
              <a:t>Checking costs more effort there, so social cues matter more.</a:t>
            </a:r>
            <a:endParaRPr lang="en-US" sz="1500" dirty="0"/>
          </a:p>
        </p:txBody>
      </p:sp>
      <p:sp>
        <p:nvSpPr>
          <p:cNvPr id="17" name="Text 14"/>
          <p:cNvSpPr txBox="1"/>
          <p:nvPr/>
        </p:nvSpPr>
        <p:spPr>
          <a:xfrm>
            <a:off x="758952" y="4937760"/>
            <a:ext cx="10671048" cy="548640"/>
          </a:xfrm>
          <a:prstGeom prst="rect">
            <a:avLst/>
          </a:prstGeom>
          <a:noFill/>
          <a:ln/>
        </p:spPr>
        <p:txBody>
          <a:bodyPr wrap="square" lIns="0" tIns="0" rIns="0" bIns="0" rtlCol="0" anchor="t"/>
          <a:lstStyle/>
          <a:p>
            <a:pPr indent="0" marL="0">
              <a:buNone/>
            </a:pPr>
            <a:r>
              <a:rPr lang="en-US" sz="1500" dirty="0">
                <a:solidFill>
                  <a:schemeClr val="tx2"/>
                </a:solidFill>
              </a:rPr>
              <a:t>Also measured: does confidence match correctness, do people say they checked, which format do they prefer. All tests are two-sided.</a:t>
            </a:r>
            <a:endParaRPr lang="en-US" sz="1500" dirty="0"/>
          </a:p>
        </p:txBody>
      </p:sp>
      <p:sp>
        <p:nvSpPr>
          <p:cNvPr id="25" name="Slide Number Placeholder 0"/>
          <p:cNvSpPr>
            <a:spLocks noGrp="1"/>
          </p:cNvSpPr>
          <p:nvPr>
            <p:ph type="sldNum" sz="quarter" idx="4294967295"/>
          </p:nvPr>
        </p:nvSpPr>
        <p:spPr>
          <a:xfrm>
            <a:off x="10881360" y="635508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758952" y="566928"/>
            <a:ext cx="10671048" cy="274320"/>
          </a:xfrm>
          <a:prstGeom prst="rect">
            <a:avLst/>
          </a:prstGeom>
          <a:noFill/>
          <a:ln/>
        </p:spPr>
        <p:txBody>
          <a:bodyPr wrap="square" lIns="0" tIns="0" rIns="0" bIns="0" rtlCol="0" anchor="t"/>
          <a:lstStyle/>
          <a:p>
            <a:pPr indent="0" marL="0">
              <a:buNone/>
            </a:pPr>
            <a:r>
              <a:rPr lang="en-US" sz="1100" spc="200" kern="0" dirty="0">
                <a:solidFill>
                  <a:schemeClr val="tx2"/>
                </a:solidFill>
                <a:latin typeface="Consolas" pitchFamily="34" charset="0"/>
                <a:ea typeface="Consolas" pitchFamily="34" charset="-122"/>
                <a:cs typeface="Consolas" pitchFamily="34" charset="-120"/>
              </a:rPr>
              <a:t>WHAT WE VARY</a:t>
            </a:r>
            <a:endParaRPr lang="en-US" sz="1100" dirty="0"/>
          </a:p>
        </p:txBody>
      </p:sp>
      <p:sp>
        <p:nvSpPr>
          <p:cNvPr id="3" name="Text 0"/>
          <p:cNvSpPr/>
          <p:nvPr>
            <p:ph idx="101" type="title" hasCustomPrompt="1"/>
          </p:nvPr>
        </p:nvSpPr>
        <p:spPr>
          <a:xfrm>
            <a:off x="758952" y="868680"/>
            <a:ext cx="10671048" cy="1005840"/>
          </a:xfrm>
          <a:prstGeom prst="rect">
            <a:avLst/>
          </a:prstGeom>
          <a:noFill/>
          <a:ln/>
        </p:spPr>
        <p:txBody>
          <a:bodyPr wrap="square" lIns="0" tIns="0" rIns="0" bIns="0" rtlCol="0" anchor="t"/>
          <a:lstStyle/>
          <a:p>
            <a:pPr algn="l" indent="0" marL="0">
              <a:lnSpc>
                <a:spcPct val="95000"/>
              </a:lnSpc>
              <a:buNone/>
            </a:pPr>
            <a:r>
              <a:rPr lang="en-US" sz="3200" b="1" dirty="0">
                <a:solidFill>
                  <a:schemeClr val="tx1"/>
                </a:solidFill>
              </a:rPr>
              <a:t>One script, three deliveries</a:t>
            </a:r>
            <a:endParaRPr lang="en-US" sz="3200" dirty="0"/>
          </a:p>
        </p:txBody>
      </p:sp>
      <p:sp>
        <p:nvSpPr>
          <p:cNvPr id="5" name="Text card"/>
          <p:cNvSpPr/>
          <p:nvPr/>
        </p:nvSpPr>
        <p:spPr>
          <a:xfrm>
            <a:off x="758952" y="1828800"/>
            <a:ext cx="3355848" cy="2606040"/>
          </a:xfrm>
          <a:prstGeom prst="roundRect">
            <a:avLst>
              <a:gd name="adj" fmla="val 1754"/>
            </a:avLst>
          </a:prstGeom>
          <a:solidFill>
            <a:schemeClr val="bg1"/>
          </a:solidFill>
          <a:ln w="9525">
            <a:solidFill>
              <a:schemeClr val="accent6"/>
            </a:solidFill>
            <a:prstDash val="solid"/>
          </a:ln>
        </p:spPr>
      </p:sp>
      <p:sp>
        <p:nvSpPr>
          <p:cNvPr id="6" name="Text colour key"/>
          <p:cNvSpPr/>
          <p:nvPr/>
        </p:nvSpPr>
        <p:spPr>
          <a:xfrm>
            <a:off x="758952" y="1828800"/>
            <a:ext cx="3355848" cy="59436"/>
          </a:xfrm>
          <a:prstGeom prst="rect">
            <a:avLst/>
          </a:prstGeom>
          <a:solidFill>
            <a:schemeClr val="accent1"/>
          </a:solidFill>
          <a:ln/>
        </p:spPr>
      </p:sp>
      <p:pic>
        <p:nvPicPr>
          <p:cNvPr id="7" name="text icon" descr="text ic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87552" y="2103120"/>
            <a:ext cx="594360" cy="594360"/>
          </a:xfrm>
          <a:prstGeom prst="rect">
            <a:avLst/>
          </a:prstGeom>
        </p:spPr>
      </p:pic>
      <p:sp>
        <p:nvSpPr>
          <p:cNvPr id="8" name="Text 4"/>
          <p:cNvSpPr txBox="1"/>
          <p:nvPr/>
        </p:nvSpPr>
        <p:spPr>
          <a:xfrm>
            <a:off x="987552" y="2834640"/>
            <a:ext cx="2926080" cy="411480"/>
          </a:xfrm>
          <a:prstGeom prst="rect">
            <a:avLst/>
          </a:prstGeom>
          <a:noFill/>
          <a:ln/>
        </p:spPr>
        <p:txBody>
          <a:bodyPr wrap="square" lIns="0" tIns="0" rIns="0" bIns="0" rtlCol="0" anchor="t"/>
          <a:lstStyle/>
          <a:p>
            <a:pPr indent="0" marL="0">
              <a:buNone/>
            </a:pPr>
            <a:r>
              <a:rPr lang="en-US" sz="2000" b="1" dirty="0">
                <a:solidFill>
                  <a:schemeClr val="accent1"/>
                </a:solidFill>
                <a:latin typeface="Arial" pitchFamily="34" charset="0"/>
                <a:ea typeface="Arial" pitchFamily="34" charset="-122"/>
                <a:cs typeface="Arial" pitchFamily="34" charset="-120"/>
              </a:rPr>
              <a:t>Text</a:t>
            </a:r>
            <a:endParaRPr lang="en-US" sz="2000" dirty="0"/>
          </a:p>
        </p:txBody>
      </p:sp>
      <p:sp>
        <p:nvSpPr>
          <p:cNvPr id="9" name="Text 5"/>
          <p:cNvSpPr txBox="1"/>
          <p:nvPr/>
        </p:nvSpPr>
        <p:spPr>
          <a:xfrm>
            <a:off x="987552" y="3291840"/>
            <a:ext cx="2926080" cy="1005840"/>
          </a:xfrm>
          <a:prstGeom prst="rect">
            <a:avLst/>
          </a:prstGeom>
          <a:noFill/>
          <a:ln/>
        </p:spPr>
        <p:txBody>
          <a:bodyPr wrap="square" lIns="0" tIns="0" rIns="0" bIns="0" rtlCol="0" anchor="t"/>
          <a:lstStyle/>
          <a:p>
            <a:pPr indent="0" marL="0">
              <a:buNone/>
            </a:pPr>
            <a:r>
              <a:rPr lang="en-US" sz="1500" dirty="0">
                <a:solidFill>
                  <a:schemeClr val="tx2"/>
                </a:solidFill>
              </a:rPr>
              <a:t>Chat bubble that streams in at speaking speed, then stays readable.</a:t>
            </a:r>
            <a:endParaRPr lang="en-US" sz="1500" dirty="0"/>
          </a:p>
        </p:txBody>
      </p:sp>
      <p:sp>
        <p:nvSpPr>
          <p:cNvPr id="10" name="AI voice card"/>
          <p:cNvSpPr/>
          <p:nvPr/>
        </p:nvSpPr>
        <p:spPr>
          <a:xfrm>
            <a:off x="4416552" y="1828800"/>
            <a:ext cx="3355848" cy="2606040"/>
          </a:xfrm>
          <a:prstGeom prst="roundRect">
            <a:avLst>
              <a:gd name="adj" fmla="val 1754"/>
            </a:avLst>
          </a:prstGeom>
          <a:solidFill>
            <a:schemeClr val="bg1"/>
          </a:solidFill>
          <a:ln w="9525">
            <a:solidFill>
              <a:schemeClr val="accent6"/>
            </a:solidFill>
            <a:prstDash val="solid"/>
          </a:ln>
        </p:spPr>
      </p:sp>
      <p:sp>
        <p:nvSpPr>
          <p:cNvPr id="11" name="AI voice colour key"/>
          <p:cNvSpPr/>
          <p:nvPr/>
        </p:nvSpPr>
        <p:spPr>
          <a:xfrm>
            <a:off x="4416552" y="1828800"/>
            <a:ext cx="3355848" cy="59436"/>
          </a:xfrm>
          <a:prstGeom prst="rect">
            <a:avLst/>
          </a:prstGeom>
          <a:solidFill>
            <a:schemeClr val="accent2"/>
          </a:solidFill>
          <a:ln/>
        </p:spPr>
      </p:sp>
      <p:pic>
        <p:nvPicPr>
          <p:cNvPr id="12" name="voice icon" descr="voice icon">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45152" y="2103120"/>
            <a:ext cx="594360" cy="594360"/>
          </a:xfrm>
          <a:prstGeom prst="rect">
            <a:avLst/>
          </a:prstGeom>
        </p:spPr>
      </p:pic>
      <p:sp>
        <p:nvSpPr>
          <p:cNvPr id="13" name="Text 8"/>
          <p:cNvSpPr txBox="1"/>
          <p:nvPr/>
        </p:nvSpPr>
        <p:spPr>
          <a:xfrm>
            <a:off x="4645152" y="2834640"/>
            <a:ext cx="2926080" cy="411480"/>
          </a:xfrm>
          <a:prstGeom prst="rect">
            <a:avLst/>
          </a:prstGeom>
          <a:noFill/>
          <a:ln/>
        </p:spPr>
        <p:txBody>
          <a:bodyPr wrap="square" lIns="0" tIns="0" rIns="0" bIns="0" rtlCol="0" anchor="t"/>
          <a:lstStyle/>
          <a:p>
            <a:pPr indent="0" marL="0">
              <a:buNone/>
            </a:pPr>
            <a:r>
              <a:rPr lang="en-US" sz="2000" b="1" dirty="0">
                <a:solidFill>
                  <a:schemeClr val="accent2"/>
                </a:solidFill>
                <a:latin typeface="Arial" pitchFamily="34" charset="0"/>
                <a:ea typeface="Arial" pitchFamily="34" charset="-122"/>
                <a:cs typeface="Arial" pitchFamily="34" charset="-120"/>
              </a:rPr>
              <a:t>AI voice</a:t>
            </a:r>
            <a:endParaRPr lang="en-US" sz="2000" dirty="0"/>
          </a:p>
        </p:txBody>
      </p:sp>
      <p:sp>
        <p:nvSpPr>
          <p:cNvPr id="14" name="Text 9"/>
          <p:cNvSpPr txBox="1"/>
          <p:nvPr/>
        </p:nvSpPr>
        <p:spPr>
          <a:xfrm>
            <a:off x="4645152" y="3291840"/>
            <a:ext cx="2926080" cy="1005840"/>
          </a:xfrm>
          <a:prstGeom prst="rect">
            <a:avLst/>
          </a:prstGeom>
          <a:noFill/>
          <a:ln/>
        </p:spPr>
        <p:txBody>
          <a:bodyPr wrap="square" lIns="0" tIns="0" rIns="0" bIns="0" rtlCol="0" anchor="t"/>
          <a:lstStyle/>
          <a:p>
            <a:pPr indent="0" marL="0">
              <a:buNone/>
            </a:pPr>
            <a:r>
              <a:rPr lang="en-US" sz="1500" dirty="0">
                <a:solidFill>
                  <a:schemeClr val="tx2"/>
                </a:solidFill>
              </a:rPr>
              <a:t>The same words read by a synthetic voice. Can be replayed.</a:t>
            </a:r>
            <a:endParaRPr lang="en-US" sz="1500" dirty="0"/>
          </a:p>
        </p:txBody>
      </p:sp>
      <p:sp>
        <p:nvSpPr>
          <p:cNvPr id="15" name="AI voice + face card"/>
          <p:cNvSpPr/>
          <p:nvPr/>
        </p:nvSpPr>
        <p:spPr>
          <a:xfrm>
            <a:off x="8074152" y="1828800"/>
            <a:ext cx="3355848" cy="2606040"/>
          </a:xfrm>
          <a:prstGeom prst="roundRect">
            <a:avLst>
              <a:gd name="adj" fmla="val 1754"/>
            </a:avLst>
          </a:prstGeom>
          <a:solidFill>
            <a:schemeClr val="bg1"/>
          </a:solidFill>
          <a:ln w="9525">
            <a:solidFill>
              <a:schemeClr val="accent6"/>
            </a:solidFill>
            <a:prstDash val="solid"/>
          </a:ln>
        </p:spPr>
      </p:sp>
      <p:sp>
        <p:nvSpPr>
          <p:cNvPr id="16" name="AI voice + face colour key"/>
          <p:cNvSpPr/>
          <p:nvPr/>
        </p:nvSpPr>
        <p:spPr>
          <a:xfrm>
            <a:off x="8074152" y="1828800"/>
            <a:ext cx="3355848" cy="59436"/>
          </a:xfrm>
          <a:prstGeom prst="rect">
            <a:avLst/>
          </a:prstGeom>
          <a:solidFill>
            <a:schemeClr val="accent3"/>
          </a:solidFill>
          <a:ln/>
        </p:spPr>
      </p:sp>
      <p:pic>
        <p:nvPicPr>
          <p:cNvPr id="17" name="face icon" descr="face icon">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02752" y="2103120"/>
            <a:ext cx="594360" cy="594360"/>
          </a:xfrm>
          <a:prstGeom prst="rect">
            <a:avLst/>
          </a:prstGeom>
        </p:spPr>
      </p:pic>
      <p:sp>
        <p:nvSpPr>
          <p:cNvPr id="18" name="Text 12"/>
          <p:cNvSpPr txBox="1"/>
          <p:nvPr/>
        </p:nvSpPr>
        <p:spPr>
          <a:xfrm>
            <a:off x="8302752" y="2834640"/>
            <a:ext cx="2926080" cy="411480"/>
          </a:xfrm>
          <a:prstGeom prst="rect">
            <a:avLst/>
          </a:prstGeom>
          <a:noFill/>
          <a:ln/>
        </p:spPr>
        <p:txBody>
          <a:bodyPr wrap="square" lIns="0" tIns="0" rIns="0" bIns="0" rtlCol="0" anchor="t"/>
          <a:lstStyle/>
          <a:p>
            <a:pPr indent="0" marL="0">
              <a:buNone/>
            </a:pPr>
            <a:r>
              <a:rPr lang="en-US" sz="2000" b="1" dirty="0">
                <a:solidFill>
                  <a:schemeClr val="accent3"/>
                </a:solidFill>
                <a:latin typeface="Arial" pitchFamily="34" charset="0"/>
                <a:ea typeface="Arial" pitchFamily="34" charset="-122"/>
                <a:cs typeface="Arial" pitchFamily="34" charset="-120"/>
              </a:rPr>
              <a:t>AI voice + face</a:t>
            </a:r>
            <a:endParaRPr lang="en-US" sz="2000" dirty="0"/>
          </a:p>
        </p:txBody>
      </p:sp>
      <p:sp>
        <p:nvSpPr>
          <p:cNvPr id="19" name="Text 13"/>
          <p:cNvSpPr txBox="1"/>
          <p:nvPr/>
        </p:nvSpPr>
        <p:spPr>
          <a:xfrm>
            <a:off x="8302752" y="3291840"/>
            <a:ext cx="2926080" cy="1005840"/>
          </a:xfrm>
          <a:prstGeom prst="rect">
            <a:avLst/>
          </a:prstGeom>
          <a:noFill/>
          <a:ln/>
        </p:spPr>
        <p:txBody>
          <a:bodyPr wrap="square" lIns="0" tIns="0" rIns="0" bIns="0" rtlCol="0" anchor="t"/>
          <a:lstStyle/>
          <a:p>
            <a:pPr indent="0" marL="0">
              <a:buNone/>
            </a:pPr>
            <a:r>
              <a:rPr lang="en-US" sz="1500" dirty="0">
                <a:solidFill>
                  <a:schemeClr val="tx2"/>
                </a:solidFill>
              </a:rPr>
              <a:t>The </a:t>
            </a:r>
            <a:pPr indent="0" marL="0">
              <a:buNone/>
            </a:pPr>
            <a:r>
              <a:rPr lang="en-US" sz="1500" b="1" dirty="0">
                <a:solidFill>
                  <a:schemeClr val="tx1"/>
                </a:solidFill>
              </a:rPr>
              <a:t>same audio file</a:t>
            </a:r>
            <a:pPr indent="0" marL="0">
              <a:buNone/>
            </a:pPr>
            <a:r>
              <a:rPr lang="en-US" sz="1500" dirty="0">
                <a:solidFill>
                  <a:schemeClr val="tx2"/>
                </a:solidFill>
              </a:rPr>
              <a:t>, lip-synced onto an AI avatar.</a:t>
            </a:r>
            <a:endParaRPr lang="en-US" sz="1500" dirty="0"/>
          </a:p>
        </p:txBody>
      </p:sp>
      <p:sp>
        <p:nvSpPr>
          <p:cNvPr id="20" name="Text 14"/>
          <p:cNvSpPr txBox="1"/>
          <p:nvPr/>
        </p:nvSpPr>
        <p:spPr>
          <a:xfrm>
            <a:off x="758952" y="4846320"/>
            <a:ext cx="10671048" cy="457200"/>
          </a:xfrm>
          <a:prstGeom prst="rect">
            <a:avLst/>
          </a:prstGeom>
          <a:noFill/>
          <a:ln/>
        </p:spPr>
        <p:txBody>
          <a:bodyPr wrap="square" lIns="0" tIns="0" rIns="0" bIns="0" rtlCol="0" anchor="t"/>
          <a:lstStyle/>
          <a:p>
            <a:pPr indent="0" marL="0">
              <a:buNone/>
            </a:pPr>
            <a:r>
              <a:rPr lang="en-US" sz="2000" dirty="0">
                <a:solidFill>
                  <a:schemeClr val="tx1"/>
                </a:solidFill>
              </a:rPr>
              <a:t>Identical words in every condition. </a:t>
            </a:r>
            <a:pPr indent="0" marL="0">
              <a:buNone/>
            </a:pPr>
            <a:r>
              <a:rPr lang="en-US" sz="2000" dirty="0">
                <a:solidFill>
                  <a:schemeClr val="tx2"/>
                </a:solidFill>
              </a:rPr>
              <a:t>Voice vs. face differs only in the face.</a:t>
            </a:r>
            <a:endParaRPr lang="en-US" sz="2000" dirty="0"/>
          </a:p>
        </p:txBody>
      </p:sp>
      <p:sp>
        <p:nvSpPr>
          <p:cNvPr id="25" name="Slide Number Placeholder 0"/>
          <p:cNvSpPr>
            <a:spLocks noGrp="1"/>
          </p:cNvSpPr>
          <p:nvPr>
            <p:ph type="sldNum" sz="quarter" idx="4294967295"/>
          </p:nvPr>
        </p:nvSpPr>
        <p:spPr>
          <a:xfrm>
            <a:off x="10881360" y="635508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758952" y="566928"/>
            <a:ext cx="10671048" cy="274320"/>
          </a:xfrm>
          <a:prstGeom prst="rect">
            <a:avLst/>
          </a:prstGeom>
          <a:noFill/>
          <a:ln/>
        </p:spPr>
        <p:txBody>
          <a:bodyPr wrap="square" lIns="0" tIns="0" rIns="0" bIns="0" rtlCol="0" anchor="t"/>
          <a:lstStyle/>
          <a:p>
            <a:pPr indent="0" marL="0">
              <a:buNone/>
            </a:pPr>
            <a:r>
              <a:rPr lang="en-US" sz="1100" spc="200" kern="0" dirty="0">
                <a:solidFill>
                  <a:schemeClr val="tx2"/>
                </a:solidFill>
                <a:latin typeface="Consolas" pitchFamily="34" charset="0"/>
                <a:ea typeface="Consolas" pitchFamily="34" charset="-122"/>
                <a:cs typeface="Consolas" pitchFamily="34" charset="-120"/>
              </a:rPr>
              <a:t>ONE CASE</a:t>
            </a:r>
            <a:endParaRPr lang="en-US" sz="1100" dirty="0"/>
          </a:p>
        </p:txBody>
      </p:sp>
      <p:sp>
        <p:nvSpPr>
          <p:cNvPr id="3" name="Text 0"/>
          <p:cNvSpPr/>
          <p:nvPr>
            <p:ph idx="101" type="title" hasCustomPrompt="1"/>
          </p:nvPr>
        </p:nvSpPr>
        <p:spPr>
          <a:xfrm>
            <a:off x="758952" y="868680"/>
            <a:ext cx="10671048" cy="1005840"/>
          </a:xfrm>
          <a:prstGeom prst="rect">
            <a:avLst/>
          </a:prstGeom>
          <a:noFill/>
          <a:ln/>
        </p:spPr>
        <p:txBody>
          <a:bodyPr wrap="square" lIns="0" tIns="0" rIns="0" bIns="0" rtlCol="0" anchor="t"/>
          <a:lstStyle/>
          <a:p>
            <a:pPr algn="l" indent="0" marL="0">
              <a:lnSpc>
                <a:spcPct val="95000"/>
              </a:lnSpc>
              <a:buNone/>
            </a:pPr>
            <a:r>
              <a:rPr lang="en-US" sz="3200" b="1" dirty="0">
                <a:solidFill>
                  <a:schemeClr val="tx1"/>
                </a:solidFill>
              </a:rPr>
              <a:t>Learn something new, then apply it</a:t>
            </a:r>
            <a:endParaRPr lang="en-US" sz="3200" dirty="0"/>
          </a:p>
        </p:txBody>
      </p:sp>
      <p:sp>
        <p:nvSpPr>
          <p:cNvPr id="5" name="situation"/>
          <p:cNvSpPr/>
          <p:nvPr/>
        </p:nvSpPr>
        <p:spPr>
          <a:xfrm>
            <a:off x="758952" y="1920240"/>
            <a:ext cx="2651760" cy="2514600"/>
          </a:xfrm>
          <a:prstGeom prst="roundRect">
            <a:avLst>
              <a:gd name="adj" fmla="val 1818"/>
            </a:avLst>
          </a:prstGeom>
          <a:solidFill>
            <a:schemeClr val="bg1"/>
          </a:solidFill>
          <a:ln w="15875">
            <a:solidFill>
              <a:schemeClr val="tx1"/>
            </a:solidFill>
            <a:prstDash val="solid"/>
          </a:ln>
        </p:spPr>
      </p:sp>
      <p:sp>
        <p:nvSpPr>
          <p:cNvPr id="6" name="Text 3"/>
          <p:cNvSpPr txBox="1"/>
          <p:nvPr/>
        </p:nvSpPr>
        <p:spPr>
          <a:xfrm>
            <a:off x="987552" y="2148840"/>
            <a:ext cx="2286000" cy="274320"/>
          </a:xfrm>
          <a:prstGeom prst="rect">
            <a:avLst/>
          </a:prstGeom>
          <a:noFill/>
          <a:ln/>
        </p:spPr>
        <p:txBody>
          <a:bodyPr wrap="square" lIns="0" tIns="0" rIns="0" bIns="0" rtlCol="0" anchor="t"/>
          <a:lstStyle/>
          <a:p>
            <a:pPr indent="0" marL="0">
              <a:buNone/>
            </a:pPr>
            <a:r>
              <a:rPr lang="en-US" sz="1100" spc="100" kern="0" dirty="0">
                <a:solidFill>
                  <a:schemeClr val="tx2"/>
                </a:solidFill>
                <a:latin typeface="Consolas" pitchFamily="34" charset="0"/>
                <a:ea typeface="Consolas" pitchFamily="34" charset="-122"/>
                <a:cs typeface="Consolas" pitchFamily="34" charset="-120"/>
              </a:rPr>
              <a:t>1 · SITUATION</a:t>
            </a:r>
            <a:endParaRPr lang="en-US" sz="1100" dirty="0"/>
          </a:p>
        </p:txBody>
      </p:sp>
      <p:sp>
        <p:nvSpPr>
          <p:cNvPr id="7" name="Text 4"/>
          <p:cNvSpPr txBox="1"/>
          <p:nvPr/>
        </p:nvSpPr>
        <p:spPr>
          <a:xfrm>
            <a:off x="987552" y="2468880"/>
            <a:ext cx="2240280" cy="68580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A short scenario on screen</a:t>
            </a:r>
            <a:endParaRPr lang="en-US" sz="1800" dirty="0"/>
          </a:p>
        </p:txBody>
      </p:sp>
      <p:sp>
        <p:nvSpPr>
          <p:cNvPr id="8" name="Text 5"/>
          <p:cNvSpPr txBox="1"/>
          <p:nvPr/>
        </p:nvSpPr>
        <p:spPr>
          <a:xfrm>
            <a:off x="987552" y="3200400"/>
            <a:ext cx="2240280" cy="1097280"/>
          </a:xfrm>
          <a:prstGeom prst="rect">
            <a:avLst/>
          </a:prstGeom>
          <a:noFill/>
          <a:ln/>
        </p:spPr>
        <p:txBody>
          <a:bodyPr wrap="square" lIns="0" tIns="0" rIns="0" bIns="0" rtlCol="0" anchor="t"/>
          <a:lstStyle/>
          <a:p>
            <a:pPr indent="0" marL="0">
              <a:buNone/>
            </a:pPr>
            <a:r>
              <a:rPr lang="en-US" sz="1400" dirty="0">
                <a:solidFill>
                  <a:schemeClr val="tx2"/>
                </a:solidFill>
              </a:rPr>
              <a:t>Game rules, finance, statistics: topics most people don't know well.</a:t>
            </a:r>
            <a:endParaRPr lang="en-US" sz="1400" dirty="0"/>
          </a:p>
        </p:txBody>
      </p:sp>
      <p:sp>
        <p:nvSpPr>
          <p:cNvPr id="9" name="Text 6"/>
          <p:cNvSpPr txBox="1"/>
          <p:nvPr/>
        </p:nvSpPr>
        <p:spPr>
          <a:xfrm>
            <a:off x="3520440" y="2926080"/>
            <a:ext cx="365760" cy="457200"/>
          </a:xfrm>
          <a:prstGeom prst="rect">
            <a:avLst/>
          </a:prstGeom>
          <a:noFill/>
          <a:ln/>
        </p:spPr>
        <p:txBody>
          <a:bodyPr wrap="square" lIns="0" tIns="0" rIns="0" bIns="0" rtlCol="0" anchor="t"/>
          <a:lstStyle/>
          <a:p>
            <a:pPr algn="ctr" indent="0" marL="0">
              <a:buNone/>
            </a:pPr>
            <a:r>
              <a:rPr lang="en-US" sz="2400" dirty="0">
                <a:solidFill>
                  <a:schemeClr val="tx2"/>
                </a:solidFill>
                <a:latin typeface="Consolas" pitchFamily="34" charset="0"/>
                <a:ea typeface="Consolas" pitchFamily="34" charset="-122"/>
                <a:cs typeface="Consolas" pitchFamily="34" charset="-120"/>
              </a:rPr>
              <a:t>→</a:t>
            </a:r>
            <a:endParaRPr lang="en-US" sz="2400" dirty="0"/>
          </a:p>
        </p:txBody>
      </p:sp>
      <p:sp>
        <p:nvSpPr>
          <p:cNvPr id="10" name="explanation"/>
          <p:cNvSpPr/>
          <p:nvPr/>
        </p:nvSpPr>
        <p:spPr>
          <a:xfrm>
            <a:off x="3977640" y="1920240"/>
            <a:ext cx="3931920" cy="2514600"/>
          </a:xfrm>
          <a:prstGeom prst="roundRect">
            <a:avLst>
              <a:gd name="adj" fmla="val 1818"/>
            </a:avLst>
          </a:prstGeom>
          <a:solidFill>
            <a:schemeClr val="bg1"/>
          </a:solidFill>
          <a:ln w="15875">
            <a:solidFill>
              <a:schemeClr val="tx1"/>
            </a:solidFill>
            <a:prstDash val="solid"/>
          </a:ln>
        </p:spPr>
      </p:sp>
      <p:sp>
        <p:nvSpPr>
          <p:cNvPr id="11" name="Text 8"/>
          <p:cNvSpPr txBox="1"/>
          <p:nvPr/>
        </p:nvSpPr>
        <p:spPr>
          <a:xfrm>
            <a:off x="4206240" y="2148840"/>
            <a:ext cx="3474720" cy="274320"/>
          </a:xfrm>
          <a:prstGeom prst="rect">
            <a:avLst/>
          </a:prstGeom>
          <a:noFill/>
          <a:ln/>
        </p:spPr>
        <p:txBody>
          <a:bodyPr wrap="square" lIns="0" tIns="0" rIns="0" bIns="0" rtlCol="0" anchor="t"/>
          <a:lstStyle/>
          <a:p>
            <a:pPr indent="0" marL="0">
              <a:buNone/>
            </a:pPr>
            <a:r>
              <a:rPr lang="en-US" sz="1100" spc="100" kern="0" dirty="0">
                <a:solidFill>
                  <a:schemeClr val="tx2"/>
                </a:solidFill>
                <a:latin typeface="Consolas" pitchFamily="34" charset="0"/>
                <a:ea typeface="Consolas" pitchFamily="34" charset="-122"/>
                <a:cs typeface="Consolas" pitchFamily="34" charset="-120"/>
              </a:rPr>
              <a:t>2 · AI EXPLANATION</a:t>
            </a:r>
            <a:endParaRPr lang="en-US" sz="1100" dirty="0"/>
          </a:p>
        </p:txBody>
      </p:sp>
      <p:sp>
        <p:nvSpPr>
          <p:cNvPr id="12" name="Text 9"/>
          <p:cNvSpPr txBox="1"/>
          <p:nvPr/>
        </p:nvSpPr>
        <p:spPr>
          <a:xfrm>
            <a:off x="4206240" y="2468880"/>
            <a:ext cx="3520440" cy="68580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About a minute. Teaches the method, never the answers.</a:t>
            </a:r>
            <a:endParaRPr lang="en-US" sz="1800" dirty="0"/>
          </a:p>
        </p:txBody>
      </p:sp>
      <p:sp>
        <p:nvSpPr>
          <p:cNvPr id="13" name="Text 10"/>
          <p:cNvSpPr txBox="1"/>
          <p:nvPr/>
        </p:nvSpPr>
        <p:spPr>
          <a:xfrm>
            <a:off x="4206240" y="3246120"/>
            <a:ext cx="3520440" cy="365760"/>
          </a:xfrm>
          <a:prstGeom prst="rect">
            <a:avLst/>
          </a:prstGeom>
          <a:noFill/>
          <a:ln/>
        </p:spPr>
        <p:txBody>
          <a:bodyPr wrap="square" lIns="0" tIns="0" rIns="0" bIns="0" rtlCol="0" anchor="t"/>
          <a:lstStyle/>
          <a:p>
            <a:pPr indent="0" marL="0">
              <a:buNone/>
            </a:pPr>
            <a:r>
              <a:rPr lang="en-US" sz="1400" dirty="0">
                <a:solidFill>
                  <a:schemeClr val="tx2"/>
                </a:solidFill>
              </a:rPr>
              <a:t>Then: </a:t>
            </a:r>
            <a:pPr indent="0" marL="0">
              <a:buNone/>
            </a:pPr>
            <a:r>
              <a:rPr lang="en-US" sz="1400" b="1" dirty="0">
                <a:solidFill>
                  <a:schemeClr val="tx1"/>
                </a:solidFill>
              </a:rPr>
              <a:t>how much do you trust it?</a:t>
            </a:r>
            <a:endParaRPr lang="en-US" sz="1400" dirty="0"/>
          </a:p>
        </p:txBody>
      </p:sp>
      <p:sp>
        <p:nvSpPr>
          <p:cNvPr id="14" name="text chip"/>
          <p:cNvSpPr/>
          <p:nvPr/>
        </p:nvSpPr>
        <p:spPr>
          <a:xfrm>
            <a:off x="4206240" y="3794760"/>
            <a:ext cx="685800" cy="347472"/>
          </a:xfrm>
          <a:prstGeom prst="roundRect">
            <a:avLst>
              <a:gd name="adj" fmla="val 50000"/>
            </a:avLst>
          </a:prstGeom>
          <a:solidFill>
            <a:schemeClr val="bg1"/>
          </a:solidFill>
          <a:ln w="15875">
            <a:solidFill>
              <a:schemeClr val="accent1"/>
            </a:solidFill>
            <a:prstDash val="solid"/>
          </a:ln>
        </p:spPr>
      </p:sp>
      <p:sp>
        <p:nvSpPr>
          <p:cNvPr id="15" name="Text 12"/>
          <p:cNvSpPr txBox="1"/>
          <p:nvPr/>
        </p:nvSpPr>
        <p:spPr>
          <a:xfrm>
            <a:off x="4206240" y="3794760"/>
            <a:ext cx="685800" cy="347472"/>
          </a:xfrm>
          <a:prstGeom prst="rect">
            <a:avLst/>
          </a:prstGeom>
          <a:noFill/>
          <a:ln/>
        </p:spPr>
        <p:txBody>
          <a:bodyPr wrap="square" lIns="0" tIns="0" rIns="0" bIns="0" rtlCol="0" anchor="ctr"/>
          <a:lstStyle/>
          <a:p>
            <a:pPr algn="ctr" indent="0" marL="0">
              <a:buNone/>
            </a:pPr>
            <a:r>
              <a:rPr lang="en-US" sz="1100" dirty="0">
                <a:solidFill>
                  <a:schemeClr val="accent1"/>
                </a:solidFill>
                <a:latin typeface="Consolas" pitchFamily="34" charset="0"/>
                <a:ea typeface="Consolas" pitchFamily="34" charset="-122"/>
                <a:cs typeface="Consolas" pitchFamily="34" charset="-120"/>
              </a:rPr>
              <a:t>text</a:t>
            </a:r>
            <a:endParaRPr lang="en-US" sz="1100" dirty="0"/>
          </a:p>
        </p:txBody>
      </p:sp>
      <p:sp>
        <p:nvSpPr>
          <p:cNvPr id="16" name="voice chip"/>
          <p:cNvSpPr/>
          <p:nvPr/>
        </p:nvSpPr>
        <p:spPr>
          <a:xfrm>
            <a:off x="5001768" y="3794760"/>
            <a:ext cx="777240" cy="347472"/>
          </a:xfrm>
          <a:prstGeom prst="roundRect">
            <a:avLst>
              <a:gd name="adj" fmla="val 50000"/>
            </a:avLst>
          </a:prstGeom>
          <a:solidFill>
            <a:schemeClr val="bg1"/>
          </a:solidFill>
          <a:ln w="15875">
            <a:solidFill>
              <a:schemeClr val="accent2"/>
            </a:solidFill>
            <a:prstDash val="solid"/>
          </a:ln>
        </p:spPr>
      </p:sp>
      <p:sp>
        <p:nvSpPr>
          <p:cNvPr id="17" name="Text 14"/>
          <p:cNvSpPr txBox="1"/>
          <p:nvPr/>
        </p:nvSpPr>
        <p:spPr>
          <a:xfrm>
            <a:off x="5001768" y="3794760"/>
            <a:ext cx="777240" cy="347472"/>
          </a:xfrm>
          <a:prstGeom prst="rect">
            <a:avLst/>
          </a:prstGeom>
          <a:noFill/>
          <a:ln/>
        </p:spPr>
        <p:txBody>
          <a:bodyPr wrap="square" lIns="0" tIns="0" rIns="0" bIns="0" rtlCol="0" anchor="ctr"/>
          <a:lstStyle/>
          <a:p>
            <a:pPr algn="ctr" indent="0" marL="0">
              <a:buNone/>
            </a:pPr>
            <a:r>
              <a:rPr lang="en-US" sz="1100" dirty="0">
                <a:solidFill>
                  <a:schemeClr val="accent2"/>
                </a:solidFill>
                <a:latin typeface="Consolas" pitchFamily="34" charset="0"/>
                <a:ea typeface="Consolas" pitchFamily="34" charset="-122"/>
                <a:cs typeface="Consolas" pitchFamily="34" charset="-120"/>
              </a:rPr>
              <a:t>voice</a:t>
            </a:r>
            <a:endParaRPr lang="en-US" sz="1100" dirty="0"/>
          </a:p>
        </p:txBody>
      </p:sp>
      <p:sp>
        <p:nvSpPr>
          <p:cNvPr id="18" name="voice + face chip"/>
          <p:cNvSpPr/>
          <p:nvPr/>
        </p:nvSpPr>
        <p:spPr>
          <a:xfrm>
            <a:off x="5888736" y="3794760"/>
            <a:ext cx="1234440" cy="347472"/>
          </a:xfrm>
          <a:prstGeom prst="roundRect">
            <a:avLst>
              <a:gd name="adj" fmla="val 50000"/>
            </a:avLst>
          </a:prstGeom>
          <a:solidFill>
            <a:schemeClr val="bg1"/>
          </a:solidFill>
          <a:ln w="15875">
            <a:solidFill>
              <a:schemeClr val="accent3"/>
            </a:solidFill>
            <a:prstDash val="solid"/>
          </a:ln>
        </p:spPr>
      </p:sp>
      <p:sp>
        <p:nvSpPr>
          <p:cNvPr id="19" name="Text 16"/>
          <p:cNvSpPr txBox="1"/>
          <p:nvPr/>
        </p:nvSpPr>
        <p:spPr>
          <a:xfrm>
            <a:off x="5888736" y="3794760"/>
            <a:ext cx="1234440" cy="347472"/>
          </a:xfrm>
          <a:prstGeom prst="rect">
            <a:avLst/>
          </a:prstGeom>
          <a:noFill/>
          <a:ln/>
        </p:spPr>
        <p:txBody>
          <a:bodyPr wrap="square" lIns="0" tIns="0" rIns="0" bIns="0" rtlCol="0" anchor="ctr"/>
          <a:lstStyle/>
          <a:p>
            <a:pPr algn="ctr" indent="0" marL="0">
              <a:buNone/>
            </a:pPr>
            <a:r>
              <a:rPr lang="en-US" sz="1100" dirty="0">
                <a:solidFill>
                  <a:schemeClr val="accent3"/>
                </a:solidFill>
                <a:latin typeface="Consolas" pitchFamily="34" charset="0"/>
                <a:ea typeface="Consolas" pitchFamily="34" charset="-122"/>
                <a:cs typeface="Consolas" pitchFamily="34" charset="-120"/>
              </a:rPr>
              <a:t>voice + face</a:t>
            </a:r>
            <a:endParaRPr lang="en-US" sz="1100" dirty="0"/>
          </a:p>
        </p:txBody>
      </p:sp>
      <p:sp>
        <p:nvSpPr>
          <p:cNvPr id="20" name="Text 17"/>
          <p:cNvSpPr txBox="1"/>
          <p:nvPr/>
        </p:nvSpPr>
        <p:spPr>
          <a:xfrm>
            <a:off x="8001000" y="2926080"/>
            <a:ext cx="365760" cy="457200"/>
          </a:xfrm>
          <a:prstGeom prst="rect">
            <a:avLst/>
          </a:prstGeom>
          <a:noFill/>
          <a:ln/>
        </p:spPr>
        <p:txBody>
          <a:bodyPr wrap="square" lIns="0" tIns="0" rIns="0" bIns="0" rtlCol="0" anchor="t"/>
          <a:lstStyle/>
          <a:p>
            <a:pPr algn="ctr" indent="0" marL="0">
              <a:buNone/>
            </a:pPr>
            <a:r>
              <a:rPr lang="en-US" sz="2400" dirty="0">
                <a:solidFill>
                  <a:schemeClr val="tx2"/>
                </a:solidFill>
                <a:latin typeface="Consolas" pitchFamily="34" charset="0"/>
                <a:ea typeface="Consolas" pitchFamily="34" charset="-122"/>
                <a:cs typeface="Consolas" pitchFamily="34" charset="-120"/>
              </a:rPr>
              <a:t>→</a:t>
            </a:r>
            <a:endParaRPr lang="en-US" sz="2400" dirty="0"/>
          </a:p>
        </p:txBody>
      </p:sp>
      <p:sp>
        <p:nvSpPr>
          <p:cNvPr id="21" name="Q1 + confidence"/>
          <p:cNvSpPr/>
          <p:nvPr/>
        </p:nvSpPr>
        <p:spPr>
          <a:xfrm>
            <a:off x="8458200" y="1920240"/>
            <a:ext cx="2971800" cy="512064"/>
          </a:xfrm>
          <a:prstGeom prst="roundRect">
            <a:avLst>
              <a:gd name="adj" fmla="val 8929"/>
            </a:avLst>
          </a:prstGeom>
          <a:solidFill>
            <a:schemeClr val="bg2"/>
          </a:solidFill>
          <a:ln w="9525">
            <a:solidFill>
              <a:schemeClr val="accent6"/>
            </a:solidFill>
            <a:prstDash val="solid"/>
          </a:ln>
        </p:spPr>
      </p:sp>
      <p:sp>
        <p:nvSpPr>
          <p:cNvPr id="22" name="Text 19"/>
          <p:cNvSpPr txBox="1"/>
          <p:nvPr/>
        </p:nvSpPr>
        <p:spPr>
          <a:xfrm>
            <a:off x="8641080" y="1920240"/>
            <a:ext cx="1828800" cy="512064"/>
          </a:xfrm>
          <a:prstGeom prst="rect">
            <a:avLst/>
          </a:prstGeom>
          <a:noFill/>
          <a:ln/>
        </p:spPr>
        <p:txBody>
          <a:bodyPr wrap="square" lIns="0" tIns="0" rIns="0" bIns="0" rtlCol="0" anchor="ctr"/>
          <a:lstStyle/>
          <a:p>
            <a:pPr indent="0" marL="0">
              <a:buNone/>
            </a:pPr>
            <a:r>
              <a:rPr lang="en-US" sz="1500" dirty="0">
                <a:solidFill>
                  <a:schemeClr val="tx1"/>
                </a:solidFill>
              </a:rPr>
              <a:t>Q1 + confidence</a:t>
            </a:r>
            <a:endParaRPr lang="en-US" sz="1500" dirty="0"/>
          </a:p>
        </p:txBody>
      </p:sp>
      <p:sp>
        <p:nvSpPr>
          <p:cNvPr id="23" name="Text 20"/>
          <p:cNvSpPr txBox="1"/>
          <p:nvPr/>
        </p:nvSpPr>
        <p:spPr>
          <a:xfrm>
            <a:off x="10332720" y="1920240"/>
            <a:ext cx="960120" cy="512064"/>
          </a:xfrm>
          <a:prstGeom prst="rect">
            <a:avLst/>
          </a:prstGeom>
          <a:noFill/>
          <a:ln/>
        </p:spPr>
        <p:txBody>
          <a:bodyPr wrap="square" lIns="0" tIns="0" rIns="0" bIns="0" rtlCol="0" anchor="ctr"/>
          <a:lstStyle/>
          <a:p>
            <a:pPr algn="r" indent="0" marL="0">
              <a:buNone/>
            </a:pPr>
            <a:r>
              <a:rPr lang="en-US" sz="1000" spc="100" kern="0" dirty="0">
                <a:solidFill>
                  <a:schemeClr val="tx2"/>
                </a:solidFill>
                <a:latin typeface="Consolas" pitchFamily="34" charset="0"/>
                <a:ea typeface="Consolas" pitchFamily="34" charset="-122"/>
                <a:cs typeface="Consolas" pitchFamily="34" charset="-120"/>
              </a:rPr>
              <a:t>EASY</a:t>
            </a:r>
            <a:endParaRPr lang="en-US" sz="1000" dirty="0"/>
          </a:p>
        </p:txBody>
      </p:sp>
      <p:sp>
        <p:nvSpPr>
          <p:cNvPr id="24" name="Q2 + confidence"/>
          <p:cNvSpPr/>
          <p:nvPr/>
        </p:nvSpPr>
        <p:spPr>
          <a:xfrm>
            <a:off x="8458200" y="2542032"/>
            <a:ext cx="2971800" cy="512064"/>
          </a:xfrm>
          <a:prstGeom prst="roundRect">
            <a:avLst>
              <a:gd name="adj" fmla="val 8929"/>
            </a:avLst>
          </a:prstGeom>
          <a:solidFill>
            <a:schemeClr val="bg2"/>
          </a:solidFill>
          <a:ln w="9525">
            <a:solidFill>
              <a:schemeClr val="accent6"/>
            </a:solidFill>
            <a:prstDash val="solid"/>
          </a:ln>
        </p:spPr>
      </p:sp>
      <p:sp>
        <p:nvSpPr>
          <p:cNvPr id="25" name="Text 22"/>
          <p:cNvSpPr txBox="1"/>
          <p:nvPr/>
        </p:nvSpPr>
        <p:spPr>
          <a:xfrm>
            <a:off x="8641080" y="2542032"/>
            <a:ext cx="1828800" cy="512064"/>
          </a:xfrm>
          <a:prstGeom prst="rect">
            <a:avLst/>
          </a:prstGeom>
          <a:noFill/>
          <a:ln/>
        </p:spPr>
        <p:txBody>
          <a:bodyPr wrap="square" lIns="0" tIns="0" rIns="0" bIns="0" rtlCol="0" anchor="ctr"/>
          <a:lstStyle/>
          <a:p>
            <a:pPr indent="0" marL="0">
              <a:buNone/>
            </a:pPr>
            <a:r>
              <a:rPr lang="en-US" sz="1500" dirty="0">
                <a:solidFill>
                  <a:schemeClr val="tx1"/>
                </a:solidFill>
              </a:rPr>
              <a:t>Q2 + confidence</a:t>
            </a:r>
            <a:endParaRPr lang="en-US" sz="1500" dirty="0"/>
          </a:p>
        </p:txBody>
      </p:sp>
      <p:sp>
        <p:nvSpPr>
          <p:cNvPr id="26" name="Text 23"/>
          <p:cNvSpPr txBox="1"/>
          <p:nvPr/>
        </p:nvSpPr>
        <p:spPr>
          <a:xfrm>
            <a:off x="10332720" y="2542032"/>
            <a:ext cx="960120" cy="512064"/>
          </a:xfrm>
          <a:prstGeom prst="rect">
            <a:avLst/>
          </a:prstGeom>
          <a:noFill/>
          <a:ln/>
        </p:spPr>
        <p:txBody>
          <a:bodyPr wrap="square" lIns="0" tIns="0" rIns="0" bIns="0" rtlCol="0" anchor="ctr"/>
          <a:lstStyle/>
          <a:p>
            <a:pPr algn="r" indent="0" marL="0">
              <a:buNone/>
            </a:pPr>
            <a:r>
              <a:rPr lang="en-US" sz="1000" spc="100" kern="0" dirty="0">
                <a:solidFill>
                  <a:schemeClr val="tx2"/>
                </a:solidFill>
                <a:latin typeface="Consolas" pitchFamily="34" charset="0"/>
                <a:ea typeface="Consolas" pitchFamily="34" charset="-122"/>
                <a:cs typeface="Consolas" pitchFamily="34" charset="-120"/>
              </a:rPr>
              <a:t>MEDIUM</a:t>
            </a:r>
            <a:endParaRPr lang="en-US" sz="1000" dirty="0"/>
          </a:p>
        </p:txBody>
      </p:sp>
      <p:sp>
        <p:nvSpPr>
          <p:cNvPr id="27" name="Q3 + confidence"/>
          <p:cNvSpPr/>
          <p:nvPr/>
        </p:nvSpPr>
        <p:spPr>
          <a:xfrm>
            <a:off x="8458200" y="3163824"/>
            <a:ext cx="2971800" cy="512064"/>
          </a:xfrm>
          <a:prstGeom prst="roundRect">
            <a:avLst>
              <a:gd name="adj" fmla="val 8929"/>
            </a:avLst>
          </a:prstGeom>
          <a:solidFill>
            <a:schemeClr val="bg2"/>
          </a:solidFill>
          <a:ln w="9525">
            <a:solidFill>
              <a:schemeClr val="accent6"/>
            </a:solidFill>
            <a:prstDash val="solid"/>
          </a:ln>
        </p:spPr>
      </p:sp>
      <p:sp>
        <p:nvSpPr>
          <p:cNvPr id="28" name="Text 25"/>
          <p:cNvSpPr txBox="1"/>
          <p:nvPr/>
        </p:nvSpPr>
        <p:spPr>
          <a:xfrm>
            <a:off x="8641080" y="3163824"/>
            <a:ext cx="1828800" cy="512064"/>
          </a:xfrm>
          <a:prstGeom prst="rect">
            <a:avLst/>
          </a:prstGeom>
          <a:noFill/>
          <a:ln/>
        </p:spPr>
        <p:txBody>
          <a:bodyPr wrap="square" lIns="0" tIns="0" rIns="0" bIns="0" rtlCol="0" anchor="ctr"/>
          <a:lstStyle/>
          <a:p>
            <a:pPr indent="0" marL="0">
              <a:buNone/>
            </a:pPr>
            <a:r>
              <a:rPr lang="en-US" sz="1500" dirty="0">
                <a:solidFill>
                  <a:schemeClr val="tx1"/>
                </a:solidFill>
              </a:rPr>
              <a:t>Q3 + confidence</a:t>
            </a:r>
            <a:endParaRPr lang="en-US" sz="1500" dirty="0"/>
          </a:p>
        </p:txBody>
      </p:sp>
      <p:sp>
        <p:nvSpPr>
          <p:cNvPr id="29" name="Text 26"/>
          <p:cNvSpPr txBox="1"/>
          <p:nvPr/>
        </p:nvSpPr>
        <p:spPr>
          <a:xfrm>
            <a:off x="10332720" y="3163824"/>
            <a:ext cx="960120" cy="512064"/>
          </a:xfrm>
          <a:prstGeom prst="rect">
            <a:avLst/>
          </a:prstGeom>
          <a:noFill/>
          <a:ln/>
        </p:spPr>
        <p:txBody>
          <a:bodyPr wrap="square" lIns="0" tIns="0" rIns="0" bIns="0" rtlCol="0" anchor="ctr"/>
          <a:lstStyle/>
          <a:p>
            <a:pPr algn="r" indent="0" marL="0">
              <a:buNone/>
            </a:pPr>
            <a:r>
              <a:rPr lang="en-US" sz="1000" spc="100" kern="0" dirty="0">
                <a:solidFill>
                  <a:schemeClr val="tx2"/>
                </a:solidFill>
                <a:latin typeface="Consolas" pitchFamily="34" charset="0"/>
                <a:ea typeface="Consolas" pitchFamily="34" charset="-122"/>
                <a:cs typeface="Consolas" pitchFamily="34" charset="-120"/>
              </a:rPr>
              <a:t>HARD</a:t>
            </a:r>
            <a:endParaRPr lang="en-US" sz="1000" dirty="0"/>
          </a:p>
        </p:txBody>
      </p:sp>
      <p:sp>
        <p:nvSpPr>
          <p:cNvPr id="30" name="Text 27"/>
          <p:cNvSpPr txBox="1"/>
          <p:nvPr/>
        </p:nvSpPr>
        <p:spPr>
          <a:xfrm>
            <a:off x="8458200" y="3840480"/>
            <a:ext cx="2971800" cy="457200"/>
          </a:xfrm>
          <a:prstGeom prst="rect">
            <a:avLst/>
          </a:prstGeom>
          <a:noFill/>
          <a:ln/>
        </p:spPr>
        <p:txBody>
          <a:bodyPr wrap="square" lIns="0" tIns="0" rIns="0" bIns="0" rtlCol="0" anchor="t"/>
          <a:lstStyle/>
          <a:p>
            <a:pPr indent="0" marL="0">
              <a:buNone/>
            </a:pPr>
            <a:r>
              <a:rPr lang="en-US" sz="1050" dirty="0">
                <a:solidFill>
                  <a:schemeClr val="tx2"/>
                </a:solidFill>
                <a:latin typeface="Consolas" pitchFamily="34" charset="0"/>
                <a:ea typeface="Consolas" pitchFamily="34" charset="-122"/>
                <a:cs typeface="Consolas" pitchFamily="34" charset="-120"/>
              </a:rPr>
              <a:t>built-in calculator, every entry logged</a:t>
            </a:r>
            <a:endParaRPr lang="en-US" sz="1050" dirty="0"/>
          </a:p>
        </p:txBody>
      </p:sp>
      <p:sp>
        <p:nvSpPr>
          <p:cNvPr id="31" name="Text 28"/>
          <p:cNvSpPr txBox="1"/>
          <p:nvPr/>
        </p:nvSpPr>
        <p:spPr>
          <a:xfrm>
            <a:off x="758952" y="4846320"/>
            <a:ext cx="10671048" cy="411480"/>
          </a:xfrm>
          <a:prstGeom prst="rect">
            <a:avLst/>
          </a:prstGeom>
          <a:noFill/>
          <a:ln/>
        </p:spPr>
        <p:txBody>
          <a:bodyPr wrap="square" lIns="0" tIns="0" rIns="0" bIns="0" rtlCol="0" anchor="t"/>
          <a:lstStyle/>
          <a:p>
            <a:pPr indent="0" marL="0">
              <a:buNone/>
            </a:pPr>
            <a:r>
              <a:rPr lang="en-US" sz="1600" dirty="0">
                <a:solidFill>
                  <a:schemeClr val="tx2"/>
                </a:solidFill>
              </a:rPr>
              <a:t>6 cases per participant → </a:t>
            </a:r>
            <a:pPr indent="0" marL="0">
              <a:buNone/>
            </a:pPr>
            <a:r>
              <a:rPr lang="en-US" sz="1600" b="1" dirty="0">
                <a:solidFill>
                  <a:schemeClr val="tx1"/>
                </a:solidFill>
              </a:rPr>
              <a:t>18 answers and 6 trust ratings.</a:t>
            </a:r>
            <a:endParaRPr lang="en-US" sz="1600" dirty="0"/>
          </a:p>
        </p:txBody>
      </p:sp>
      <p:sp>
        <p:nvSpPr>
          <p:cNvPr id="25" name="Slide Number Placeholder 0"/>
          <p:cNvSpPr>
            <a:spLocks noGrp="1"/>
          </p:cNvSpPr>
          <p:nvPr>
            <p:ph type="sldNum" sz="quarter" idx="4294967295"/>
          </p:nvPr>
        </p:nvSpPr>
        <p:spPr>
          <a:xfrm>
            <a:off x="10881360" y="635508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758952" y="566928"/>
            <a:ext cx="10671048" cy="274320"/>
          </a:xfrm>
          <a:prstGeom prst="rect">
            <a:avLst/>
          </a:prstGeom>
          <a:noFill/>
          <a:ln/>
        </p:spPr>
        <p:txBody>
          <a:bodyPr wrap="square" lIns="0" tIns="0" rIns="0" bIns="0" rtlCol="0" anchor="t"/>
          <a:lstStyle/>
          <a:p>
            <a:pPr indent="0" marL="0">
              <a:buNone/>
            </a:pPr>
            <a:r>
              <a:rPr lang="en-US" sz="1100" spc="200" kern="0" dirty="0">
                <a:solidFill>
                  <a:schemeClr val="tx2"/>
                </a:solidFill>
                <a:latin typeface="Consolas" pitchFamily="34" charset="0"/>
                <a:ea typeface="Consolas" pitchFamily="34" charset="-122"/>
                <a:cs typeface="Consolas" pitchFamily="34" charset="-120"/>
              </a:rPr>
              <a:t>THE MANIPULATION</a:t>
            </a:r>
            <a:endParaRPr lang="en-US" sz="1100" dirty="0"/>
          </a:p>
        </p:txBody>
      </p:sp>
      <p:sp>
        <p:nvSpPr>
          <p:cNvPr id="3" name="Text 0"/>
          <p:cNvSpPr/>
          <p:nvPr>
            <p:ph idx="101" type="title" hasCustomPrompt="1"/>
          </p:nvPr>
        </p:nvSpPr>
        <p:spPr>
          <a:xfrm>
            <a:off x="758952" y="868680"/>
            <a:ext cx="10671048" cy="1005840"/>
          </a:xfrm>
          <a:prstGeom prst="rect">
            <a:avLst/>
          </a:prstGeom>
          <a:noFill/>
          <a:ln/>
        </p:spPr>
        <p:txBody>
          <a:bodyPr wrap="square" lIns="0" tIns="0" rIns="0" bIns="0" rtlCol="0" anchor="t"/>
          <a:lstStyle/>
          <a:p>
            <a:pPr algn="l" indent="0" marL="0">
              <a:lnSpc>
                <a:spcPct val="95000"/>
              </a:lnSpc>
              <a:buNone/>
            </a:pPr>
            <a:r>
              <a:rPr lang="en-US" sz="3200" b="1" dirty="0">
                <a:solidFill>
                  <a:schemeClr val="tx1"/>
                </a:solidFill>
              </a:rPr>
              <a:t>Half the explanations hide one subtle mistake</a:t>
            </a:r>
            <a:endParaRPr lang="en-US" sz="3200" dirty="0"/>
          </a:p>
        </p:txBody>
      </p:sp>
      <p:sp>
        <p:nvSpPr>
          <p:cNvPr id="5" name="Part 1 · Voice colour key"/>
          <p:cNvSpPr/>
          <p:nvPr/>
        </p:nvSpPr>
        <p:spPr>
          <a:xfrm>
            <a:off x="758952" y="1783080"/>
            <a:ext cx="3355848" cy="59436"/>
          </a:xfrm>
          <a:prstGeom prst="rect">
            <a:avLst/>
          </a:prstGeom>
          <a:solidFill>
            <a:schemeClr val="accent2"/>
          </a:solidFill>
          <a:ln/>
        </p:spPr>
      </p:sp>
      <p:sp>
        <p:nvSpPr>
          <p:cNvPr id="6" name="Text 3"/>
          <p:cNvSpPr txBox="1"/>
          <p:nvPr/>
        </p:nvSpPr>
        <p:spPr>
          <a:xfrm>
            <a:off x="758952" y="1938528"/>
            <a:ext cx="3355848"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Part 1 · Voice</a:t>
            </a:r>
            <a:endParaRPr lang="en-US" sz="1800" dirty="0"/>
          </a:p>
        </p:txBody>
      </p:sp>
      <p:sp>
        <p:nvSpPr>
          <p:cNvPr id="7" name="Part 1 · Voice Case A"/>
          <p:cNvSpPr/>
          <p:nvPr/>
        </p:nvSpPr>
        <p:spPr>
          <a:xfrm>
            <a:off x="758952" y="2423160"/>
            <a:ext cx="3355848" cy="438912"/>
          </a:xfrm>
          <a:prstGeom prst="roundRect">
            <a:avLst>
              <a:gd name="adj" fmla="val 10417"/>
            </a:avLst>
          </a:prstGeom>
          <a:solidFill>
            <a:schemeClr val="accent5"/>
          </a:solidFill>
          <a:ln w="9525">
            <a:solidFill>
              <a:schemeClr val="accent4"/>
            </a:solidFill>
            <a:prstDash val="solid"/>
          </a:ln>
        </p:spPr>
      </p:sp>
      <p:sp>
        <p:nvSpPr>
          <p:cNvPr id="8" name="Text 5"/>
          <p:cNvSpPr txBox="1"/>
          <p:nvPr/>
        </p:nvSpPr>
        <p:spPr>
          <a:xfrm>
            <a:off x="923544" y="2423160"/>
            <a:ext cx="1188720" cy="438912"/>
          </a:xfrm>
          <a:prstGeom prst="rect">
            <a:avLst/>
          </a:prstGeom>
          <a:noFill/>
          <a:ln/>
        </p:spPr>
        <p:txBody>
          <a:bodyPr wrap="square" lIns="0" tIns="0" rIns="0" bIns="0" rtlCol="0" anchor="ctr"/>
          <a:lstStyle/>
          <a:p>
            <a:pPr indent="0" marL="0">
              <a:buNone/>
            </a:pPr>
            <a:r>
              <a:rPr lang="en-US" sz="1500" dirty="0">
                <a:solidFill>
                  <a:schemeClr val="tx1"/>
                </a:solidFill>
              </a:rPr>
              <a:t>Case A</a:t>
            </a:r>
            <a:endParaRPr lang="en-US" sz="1500" dirty="0"/>
          </a:p>
        </p:txBody>
      </p:sp>
      <p:sp>
        <p:nvSpPr>
          <p:cNvPr id="9" name="Text 6"/>
          <p:cNvSpPr txBox="1"/>
          <p:nvPr/>
        </p:nvSpPr>
        <p:spPr>
          <a:xfrm>
            <a:off x="2039112" y="2423160"/>
            <a:ext cx="1911096" cy="438912"/>
          </a:xfrm>
          <a:prstGeom prst="rect">
            <a:avLst/>
          </a:prstGeom>
          <a:noFill/>
          <a:ln/>
        </p:spPr>
        <p:txBody>
          <a:bodyPr wrap="square" lIns="0" tIns="0" rIns="0" bIns="0" rtlCol="0" anchor="ctr"/>
          <a:lstStyle/>
          <a:p>
            <a:pPr algn="r" indent="0" marL="0">
              <a:buNone/>
            </a:pPr>
            <a:r>
              <a:rPr lang="en-US" sz="1000" spc="100" kern="0" dirty="0">
                <a:solidFill>
                  <a:schemeClr val="accent4"/>
                </a:solidFill>
                <a:latin typeface="Consolas" pitchFamily="34" charset="0"/>
                <a:ea typeface="Consolas" pitchFamily="34" charset="-122"/>
                <a:cs typeface="Consolas" pitchFamily="34" charset="-120"/>
              </a:rPr>
              <a:t>FLAW ON HARD Q</a:t>
            </a:r>
            <a:endParaRPr lang="en-US" sz="1000" dirty="0"/>
          </a:p>
        </p:txBody>
      </p:sp>
      <p:sp>
        <p:nvSpPr>
          <p:cNvPr id="10" name="Part 1 · Voice Case B"/>
          <p:cNvSpPr/>
          <p:nvPr/>
        </p:nvSpPr>
        <p:spPr>
          <a:xfrm>
            <a:off x="758952" y="2953512"/>
            <a:ext cx="3355848" cy="438912"/>
          </a:xfrm>
          <a:prstGeom prst="roundRect">
            <a:avLst>
              <a:gd name="adj" fmla="val 10417"/>
            </a:avLst>
          </a:prstGeom>
          <a:solidFill>
            <a:schemeClr val="bg2"/>
          </a:solidFill>
          <a:ln w="9525">
            <a:solidFill>
              <a:schemeClr val="accent6"/>
            </a:solidFill>
            <a:prstDash val="solid"/>
          </a:ln>
        </p:spPr>
      </p:sp>
      <p:sp>
        <p:nvSpPr>
          <p:cNvPr id="11" name="Text 8"/>
          <p:cNvSpPr txBox="1"/>
          <p:nvPr/>
        </p:nvSpPr>
        <p:spPr>
          <a:xfrm>
            <a:off x="923544" y="2953512"/>
            <a:ext cx="1188720" cy="438912"/>
          </a:xfrm>
          <a:prstGeom prst="rect">
            <a:avLst/>
          </a:prstGeom>
          <a:noFill/>
          <a:ln/>
        </p:spPr>
        <p:txBody>
          <a:bodyPr wrap="square" lIns="0" tIns="0" rIns="0" bIns="0" rtlCol="0" anchor="ctr"/>
          <a:lstStyle/>
          <a:p>
            <a:pPr indent="0" marL="0">
              <a:buNone/>
            </a:pPr>
            <a:r>
              <a:rPr lang="en-US" sz="1500" dirty="0">
                <a:solidFill>
                  <a:schemeClr val="tx1"/>
                </a:solidFill>
              </a:rPr>
              <a:t>Case B</a:t>
            </a:r>
            <a:endParaRPr lang="en-US" sz="1500" dirty="0"/>
          </a:p>
        </p:txBody>
      </p:sp>
      <p:sp>
        <p:nvSpPr>
          <p:cNvPr id="12" name="Text 9"/>
          <p:cNvSpPr txBox="1"/>
          <p:nvPr/>
        </p:nvSpPr>
        <p:spPr>
          <a:xfrm>
            <a:off x="2039112" y="2953512"/>
            <a:ext cx="1911096" cy="438912"/>
          </a:xfrm>
          <a:prstGeom prst="rect">
            <a:avLst/>
          </a:prstGeom>
          <a:noFill/>
          <a:ln/>
        </p:spPr>
        <p:txBody>
          <a:bodyPr wrap="square" lIns="0" tIns="0" rIns="0" bIns="0" rtlCol="0" anchor="ctr"/>
          <a:lstStyle/>
          <a:p>
            <a:pPr algn="r" indent="0" marL="0">
              <a:buNone/>
            </a:pPr>
            <a:r>
              <a:rPr lang="en-US" sz="1000" spc="100" kern="0" dirty="0">
                <a:solidFill>
                  <a:schemeClr val="tx2"/>
                </a:solidFill>
                <a:latin typeface="Consolas" pitchFamily="34" charset="0"/>
                <a:ea typeface="Consolas" pitchFamily="34" charset="-122"/>
                <a:cs typeface="Consolas" pitchFamily="34" charset="-120"/>
              </a:rPr>
              <a:t>CORRECT</a:t>
            </a:r>
            <a:endParaRPr lang="en-US" sz="1000" dirty="0"/>
          </a:p>
        </p:txBody>
      </p:sp>
      <p:sp>
        <p:nvSpPr>
          <p:cNvPr id="13" name="Part 2 · Text colour key"/>
          <p:cNvSpPr/>
          <p:nvPr/>
        </p:nvSpPr>
        <p:spPr>
          <a:xfrm>
            <a:off x="4416552" y="1783080"/>
            <a:ext cx="3355848" cy="59436"/>
          </a:xfrm>
          <a:prstGeom prst="rect">
            <a:avLst/>
          </a:prstGeom>
          <a:solidFill>
            <a:schemeClr val="accent1"/>
          </a:solidFill>
          <a:ln/>
        </p:spPr>
      </p:sp>
      <p:sp>
        <p:nvSpPr>
          <p:cNvPr id="14" name="Text 11"/>
          <p:cNvSpPr txBox="1"/>
          <p:nvPr/>
        </p:nvSpPr>
        <p:spPr>
          <a:xfrm>
            <a:off x="4416552" y="1938528"/>
            <a:ext cx="3355848"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Part 2 · Text</a:t>
            </a:r>
            <a:endParaRPr lang="en-US" sz="1800" dirty="0"/>
          </a:p>
        </p:txBody>
      </p:sp>
      <p:sp>
        <p:nvSpPr>
          <p:cNvPr id="15" name="Part 2 · Text Case C"/>
          <p:cNvSpPr/>
          <p:nvPr/>
        </p:nvSpPr>
        <p:spPr>
          <a:xfrm>
            <a:off x="4416552" y="2423160"/>
            <a:ext cx="3355848" cy="438912"/>
          </a:xfrm>
          <a:prstGeom prst="roundRect">
            <a:avLst>
              <a:gd name="adj" fmla="val 10417"/>
            </a:avLst>
          </a:prstGeom>
          <a:solidFill>
            <a:schemeClr val="bg2"/>
          </a:solidFill>
          <a:ln w="9525">
            <a:solidFill>
              <a:schemeClr val="accent6"/>
            </a:solidFill>
            <a:prstDash val="solid"/>
          </a:ln>
        </p:spPr>
      </p:sp>
      <p:sp>
        <p:nvSpPr>
          <p:cNvPr id="16" name="Text 13"/>
          <p:cNvSpPr txBox="1"/>
          <p:nvPr/>
        </p:nvSpPr>
        <p:spPr>
          <a:xfrm>
            <a:off x="4581144" y="2423160"/>
            <a:ext cx="1188720" cy="438912"/>
          </a:xfrm>
          <a:prstGeom prst="rect">
            <a:avLst/>
          </a:prstGeom>
          <a:noFill/>
          <a:ln/>
        </p:spPr>
        <p:txBody>
          <a:bodyPr wrap="square" lIns="0" tIns="0" rIns="0" bIns="0" rtlCol="0" anchor="ctr"/>
          <a:lstStyle/>
          <a:p>
            <a:pPr indent="0" marL="0">
              <a:buNone/>
            </a:pPr>
            <a:r>
              <a:rPr lang="en-US" sz="1500" dirty="0">
                <a:solidFill>
                  <a:schemeClr val="tx1"/>
                </a:solidFill>
              </a:rPr>
              <a:t>Case C</a:t>
            </a:r>
            <a:endParaRPr lang="en-US" sz="1500" dirty="0"/>
          </a:p>
        </p:txBody>
      </p:sp>
      <p:sp>
        <p:nvSpPr>
          <p:cNvPr id="17" name="Text 14"/>
          <p:cNvSpPr txBox="1"/>
          <p:nvPr/>
        </p:nvSpPr>
        <p:spPr>
          <a:xfrm>
            <a:off x="5696712" y="2423160"/>
            <a:ext cx="1911096" cy="438912"/>
          </a:xfrm>
          <a:prstGeom prst="rect">
            <a:avLst/>
          </a:prstGeom>
          <a:noFill/>
          <a:ln/>
        </p:spPr>
        <p:txBody>
          <a:bodyPr wrap="square" lIns="0" tIns="0" rIns="0" bIns="0" rtlCol="0" anchor="ctr"/>
          <a:lstStyle/>
          <a:p>
            <a:pPr algn="r" indent="0" marL="0">
              <a:buNone/>
            </a:pPr>
            <a:r>
              <a:rPr lang="en-US" sz="1000" spc="100" kern="0" dirty="0">
                <a:solidFill>
                  <a:schemeClr val="tx2"/>
                </a:solidFill>
                <a:latin typeface="Consolas" pitchFamily="34" charset="0"/>
                <a:ea typeface="Consolas" pitchFamily="34" charset="-122"/>
                <a:cs typeface="Consolas" pitchFamily="34" charset="-120"/>
              </a:rPr>
              <a:t>CORRECT</a:t>
            </a:r>
            <a:endParaRPr lang="en-US" sz="1000" dirty="0"/>
          </a:p>
        </p:txBody>
      </p:sp>
      <p:sp>
        <p:nvSpPr>
          <p:cNvPr id="18" name="Part 2 · Text Case D"/>
          <p:cNvSpPr/>
          <p:nvPr/>
        </p:nvSpPr>
        <p:spPr>
          <a:xfrm>
            <a:off x="4416552" y="2953512"/>
            <a:ext cx="3355848" cy="438912"/>
          </a:xfrm>
          <a:prstGeom prst="roundRect">
            <a:avLst>
              <a:gd name="adj" fmla="val 10417"/>
            </a:avLst>
          </a:prstGeom>
          <a:solidFill>
            <a:schemeClr val="accent5"/>
          </a:solidFill>
          <a:ln w="9525">
            <a:solidFill>
              <a:schemeClr val="accent4"/>
            </a:solidFill>
            <a:prstDash val="solid"/>
          </a:ln>
        </p:spPr>
      </p:sp>
      <p:sp>
        <p:nvSpPr>
          <p:cNvPr id="19" name="Text 16"/>
          <p:cNvSpPr txBox="1"/>
          <p:nvPr/>
        </p:nvSpPr>
        <p:spPr>
          <a:xfrm>
            <a:off x="4581144" y="2953512"/>
            <a:ext cx="1188720" cy="438912"/>
          </a:xfrm>
          <a:prstGeom prst="rect">
            <a:avLst/>
          </a:prstGeom>
          <a:noFill/>
          <a:ln/>
        </p:spPr>
        <p:txBody>
          <a:bodyPr wrap="square" lIns="0" tIns="0" rIns="0" bIns="0" rtlCol="0" anchor="ctr"/>
          <a:lstStyle/>
          <a:p>
            <a:pPr indent="0" marL="0">
              <a:buNone/>
            </a:pPr>
            <a:r>
              <a:rPr lang="en-US" sz="1500" dirty="0">
                <a:solidFill>
                  <a:schemeClr val="tx1"/>
                </a:solidFill>
              </a:rPr>
              <a:t>Case D</a:t>
            </a:r>
            <a:endParaRPr lang="en-US" sz="1500" dirty="0"/>
          </a:p>
        </p:txBody>
      </p:sp>
      <p:sp>
        <p:nvSpPr>
          <p:cNvPr id="20" name="Text 17"/>
          <p:cNvSpPr txBox="1"/>
          <p:nvPr/>
        </p:nvSpPr>
        <p:spPr>
          <a:xfrm>
            <a:off x="5696712" y="2953512"/>
            <a:ext cx="1911096" cy="438912"/>
          </a:xfrm>
          <a:prstGeom prst="rect">
            <a:avLst/>
          </a:prstGeom>
          <a:noFill/>
          <a:ln/>
        </p:spPr>
        <p:txBody>
          <a:bodyPr wrap="square" lIns="0" tIns="0" rIns="0" bIns="0" rtlCol="0" anchor="ctr"/>
          <a:lstStyle/>
          <a:p>
            <a:pPr algn="r" indent="0" marL="0">
              <a:buNone/>
            </a:pPr>
            <a:r>
              <a:rPr lang="en-US" sz="1000" spc="100" kern="0" dirty="0">
                <a:solidFill>
                  <a:schemeClr val="accent4"/>
                </a:solidFill>
                <a:latin typeface="Consolas" pitchFamily="34" charset="0"/>
                <a:ea typeface="Consolas" pitchFamily="34" charset="-122"/>
                <a:cs typeface="Consolas" pitchFamily="34" charset="-120"/>
              </a:rPr>
              <a:t>FLAW ON EASY Q</a:t>
            </a:r>
            <a:endParaRPr lang="en-US" sz="1000" dirty="0"/>
          </a:p>
        </p:txBody>
      </p:sp>
      <p:sp>
        <p:nvSpPr>
          <p:cNvPr id="21" name="Part 3 · Voice + face colour key"/>
          <p:cNvSpPr/>
          <p:nvPr/>
        </p:nvSpPr>
        <p:spPr>
          <a:xfrm>
            <a:off x="8074152" y="1783080"/>
            <a:ext cx="3355848" cy="59436"/>
          </a:xfrm>
          <a:prstGeom prst="rect">
            <a:avLst/>
          </a:prstGeom>
          <a:solidFill>
            <a:schemeClr val="accent3"/>
          </a:solidFill>
          <a:ln/>
        </p:spPr>
      </p:sp>
      <p:sp>
        <p:nvSpPr>
          <p:cNvPr id="22" name="Text 19"/>
          <p:cNvSpPr txBox="1"/>
          <p:nvPr/>
        </p:nvSpPr>
        <p:spPr>
          <a:xfrm>
            <a:off x="8074152" y="1938528"/>
            <a:ext cx="3355848"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Part 3 · Voice + face</a:t>
            </a:r>
            <a:endParaRPr lang="en-US" sz="1800" dirty="0"/>
          </a:p>
        </p:txBody>
      </p:sp>
      <p:sp>
        <p:nvSpPr>
          <p:cNvPr id="23" name="Part 3 · Voice + face Case E"/>
          <p:cNvSpPr/>
          <p:nvPr/>
        </p:nvSpPr>
        <p:spPr>
          <a:xfrm>
            <a:off x="8074152" y="2423160"/>
            <a:ext cx="3355848" cy="438912"/>
          </a:xfrm>
          <a:prstGeom prst="roundRect">
            <a:avLst>
              <a:gd name="adj" fmla="val 10417"/>
            </a:avLst>
          </a:prstGeom>
          <a:solidFill>
            <a:schemeClr val="accent5"/>
          </a:solidFill>
          <a:ln w="9525">
            <a:solidFill>
              <a:schemeClr val="accent4"/>
            </a:solidFill>
            <a:prstDash val="solid"/>
          </a:ln>
        </p:spPr>
      </p:sp>
      <p:sp>
        <p:nvSpPr>
          <p:cNvPr id="24" name="Text 21"/>
          <p:cNvSpPr txBox="1"/>
          <p:nvPr/>
        </p:nvSpPr>
        <p:spPr>
          <a:xfrm>
            <a:off x="8238744" y="2423160"/>
            <a:ext cx="1188720" cy="438912"/>
          </a:xfrm>
          <a:prstGeom prst="rect">
            <a:avLst/>
          </a:prstGeom>
          <a:noFill/>
          <a:ln/>
        </p:spPr>
        <p:txBody>
          <a:bodyPr wrap="square" lIns="0" tIns="0" rIns="0" bIns="0" rtlCol="0" anchor="ctr"/>
          <a:lstStyle/>
          <a:p>
            <a:pPr indent="0" marL="0">
              <a:buNone/>
            </a:pPr>
            <a:r>
              <a:rPr lang="en-US" sz="1500" dirty="0">
                <a:solidFill>
                  <a:schemeClr val="tx1"/>
                </a:solidFill>
              </a:rPr>
              <a:t>Case E</a:t>
            </a:r>
            <a:endParaRPr lang="en-US" sz="1500" dirty="0"/>
          </a:p>
        </p:txBody>
      </p:sp>
      <p:sp>
        <p:nvSpPr>
          <p:cNvPr id="25" name="Text 22"/>
          <p:cNvSpPr txBox="1"/>
          <p:nvPr/>
        </p:nvSpPr>
        <p:spPr>
          <a:xfrm>
            <a:off x="9354312" y="2423160"/>
            <a:ext cx="1911096" cy="438912"/>
          </a:xfrm>
          <a:prstGeom prst="rect">
            <a:avLst/>
          </a:prstGeom>
          <a:noFill/>
          <a:ln/>
        </p:spPr>
        <p:txBody>
          <a:bodyPr wrap="square" lIns="0" tIns="0" rIns="0" bIns="0" rtlCol="0" anchor="ctr"/>
          <a:lstStyle/>
          <a:p>
            <a:pPr algn="r" indent="0" marL="0">
              <a:buNone/>
            </a:pPr>
            <a:r>
              <a:rPr lang="en-US" sz="1000" spc="100" kern="0" dirty="0">
                <a:solidFill>
                  <a:schemeClr val="accent4"/>
                </a:solidFill>
                <a:latin typeface="Consolas" pitchFamily="34" charset="0"/>
                <a:ea typeface="Consolas" pitchFamily="34" charset="-122"/>
                <a:cs typeface="Consolas" pitchFamily="34" charset="-120"/>
              </a:rPr>
              <a:t>FLAW ON MEDIUM Q</a:t>
            </a:r>
            <a:endParaRPr lang="en-US" sz="1000" dirty="0"/>
          </a:p>
        </p:txBody>
      </p:sp>
      <p:sp>
        <p:nvSpPr>
          <p:cNvPr id="26" name="Part 3 · Voice + face Case F"/>
          <p:cNvSpPr/>
          <p:nvPr/>
        </p:nvSpPr>
        <p:spPr>
          <a:xfrm>
            <a:off x="8074152" y="2953512"/>
            <a:ext cx="3355848" cy="438912"/>
          </a:xfrm>
          <a:prstGeom prst="roundRect">
            <a:avLst>
              <a:gd name="adj" fmla="val 10417"/>
            </a:avLst>
          </a:prstGeom>
          <a:solidFill>
            <a:schemeClr val="bg2"/>
          </a:solidFill>
          <a:ln w="9525">
            <a:solidFill>
              <a:schemeClr val="accent6"/>
            </a:solidFill>
            <a:prstDash val="solid"/>
          </a:ln>
        </p:spPr>
      </p:sp>
      <p:sp>
        <p:nvSpPr>
          <p:cNvPr id="27" name="Text 24"/>
          <p:cNvSpPr txBox="1"/>
          <p:nvPr/>
        </p:nvSpPr>
        <p:spPr>
          <a:xfrm>
            <a:off x="8238744" y="2953512"/>
            <a:ext cx="1188720" cy="438912"/>
          </a:xfrm>
          <a:prstGeom prst="rect">
            <a:avLst/>
          </a:prstGeom>
          <a:noFill/>
          <a:ln/>
        </p:spPr>
        <p:txBody>
          <a:bodyPr wrap="square" lIns="0" tIns="0" rIns="0" bIns="0" rtlCol="0" anchor="ctr"/>
          <a:lstStyle/>
          <a:p>
            <a:pPr indent="0" marL="0">
              <a:buNone/>
            </a:pPr>
            <a:r>
              <a:rPr lang="en-US" sz="1500" dirty="0">
                <a:solidFill>
                  <a:schemeClr val="tx1"/>
                </a:solidFill>
              </a:rPr>
              <a:t>Case F</a:t>
            </a:r>
            <a:endParaRPr lang="en-US" sz="1500" dirty="0"/>
          </a:p>
        </p:txBody>
      </p:sp>
      <p:sp>
        <p:nvSpPr>
          <p:cNvPr id="28" name="Text 25"/>
          <p:cNvSpPr txBox="1"/>
          <p:nvPr/>
        </p:nvSpPr>
        <p:spPr>
          <a:xfrm>
            <a:off x="9354312" y="2953512"/>
            <a:ext cx="1911096" cy="438912"/>
          </a:xfrm>
          <a:prstGeom prst="rect">
            <a:avLst/>
          </a:prstGeom>
          <a:noFill/>
          <a:ln/>
        </p:spPr>
        <p:txBody>
          <a:bodyPr wrap="square" lIns="0" tIns="0" rIns="0" bIns="0" rtlCol="0" anchor="ctr"/>
          <a:lstStyle/>
          <a:p>
            <a:pPr algn="r" indent="0" marL="0">
              <a:buNone/>
            </a:pPr>
            <a:r>
              <a:rPr lang="en-US" sz="1000" spc="100" kern="0" dirty="0">
                <a:solidFill>
                  <a:schemeClr val="tx2"/>
                </a:solidFill>
                <a:latin typeface="Consolas" pitchFamily="34" charset="0"/>
                <a:ea typeface="Consolas" pitchFamily="34" charset="-122"/>
                <a:cs typeface="Consolas" pitchFamily="34" charset="-120"/>
              </a:rPr>
              <a:t>CORRECT</a:t>
            </a:r>
            <a:endParaRPr lang="en-US" sz="1000" dirty="0"/>
          </a:p>
        </p:txBody>
      </p:sp>
      <p:sp>
        <p:nvSpPr>
          <p:cNvPr id="29" name="Text 26"/>
          <p:cNvSpPr txBox="1"/>
          <p:nvPr/>
        </p:nvSpPr>
        <p:spPr>
          <a:xfrm>
            <a:off x="758952" y="3730752"/>
            <a:ext cx="1005840" cy="274320"/>
          </a:xfrm>
          <a:prstGeom prst="rect">
            <a:avLst/>
          </a:prstGeom>
          <a:noFill/>
          <a:ln/>
        </p:spPr>
        <p:txBody>
          <a:bodyPr wrap="square" lIns="0" tIns="0" rIns="0" bIns="0" rtlCol="0" anchor="t"/>
          <a:lstStyle/>
          <a:p>
            <a:pPr indent="0" marL="0">
              <a:buNone/>
            </a:pPr>
            <a:r>
              <a:rPr lang="en-US" sz="1100" dirty="0">
                <a:solidFill>
                  <a:schemeClr val="tx2"/>
                </a:solidFill>
                <a:latin typeface="Consolas" pitchFamily="34" charset="0"/>
                <a:ea typeface="Consolas" pitchFamily="34" charset="-122"/>
                <a:cs typeface="Consolas" pitchFamily="34" charset="-120"/>
              </a:rPr>
              <a:t>1 sentence</a:t>
            </a:r>
            <a:endParaRPr lang="en-US" sz="1100" dirty="0"/>
          </a:p>
        </p:txBody>
      </p:sp>
      <p:sp>
        <p:nvSpPr>
          <p:cNvPr id="30" name="Text 27"/>
          <p:cNvSpPr txBox="1"/>
          <p:nvPr/>
        </p:nvSpPr>
        <p:spPr>
          <a:xfrm>
            <a:off x="1856232" y="3703320"/>
            <a:ext cx="4069080" cy="594360"/>
          </a:xfrm>
          <a:prstGeom prst="rect">
            <a:avLst/>
          </a:prstGeom>
          <a:noFill/>
          <a:ln/>
        </p:spPr>
        <p:txBody>
          <a:bodyPr wrap="square" lIns="0" tIns="0" rIns="0" bIns="0" rtlCol="0" anchor="t"/>
          <a:lstStyle/>
          <a:p>
            <a:pPr indent="0" marL="0">
              <a:buNone/>
            </a:pPr>
            <a:r>
              <a:rPr lang="en-US" sz="1500" dirty="0">
                <a:solidFill>
                  <a:schemeClr val="tx1"/>
                </a:solidFill>
              </a:rPr>
              <a:t>Only the flawed sentence differs, said in the same confident tone.</a:t>
            </a:r>
            <a:endParaRPr lang="en-US" sz="1500" dirty="0"/>
          </a:p>
        </p:txBody>
      </p:sp>
      <p:sp>
        <p:nvSpPr>
          <p:cNvPr id="31" name="Text 28"/>
          <p:cNvSpPr txBox="1"/>
          <p:nvPr/>
        </p:nvSpPr>
        <p:spPr>
          <a:xfrm>
            <a:off x="6245352" y="3730752"/>
            <a:ext cx="1005840" cy="274320"/>
          </a:xfrm>
          <a:prstGeom prst="rect">
            <a:avLst/>
          </a:prstGeom>
          <a:noFill/>
          <a:ln/>
        </p:spPr>
        <p:txBody>
          <a:bodyPr wrap="square" lIns="0" tIns="0" rIns="0" bIns="0" rtlCol="0" anchor="t"/>
          <a:lstStyle/>
          <a:p>
            <a:pPr indent="0" marL="0">
              <a:buNone/>
            </a:pPr>
            <a:r>
              <a:rPr lang="en-US" sz="1100" dirty="0">
                <a:solidFill>
                  <a:schemeClr val="tx2"/>
                </a:solidFill>
                <a:latin typeface="Consolas" pitchFamily="34" charset="0"/>
                <a:ea typeface="Consolas" pitchFamily="34" charset="-122"/>
                <a:cs typeface="Consolas" pitchFamily="34" charset="-120"/>
              </a:rPr>
              <a:t>1 question</a:t>
            </a:r>
            <a:endParaRPr lang="en-US" sz="1100" dirty="0"/>
          </a:p>
        </p:txBody>
      </p:sp>
      <p:sp>
        <p:nvSpPr>
          <p:cNvPr id="32" name="Text 29"/>
          <p:cNvSpPr txBox="1"/>
          <p:nvPr/>
        </p:nvSpPr>
        <p:spPr>
          <a:xfrm>
            <a:off x="7342632" y="3703320"/>
            <a:ext cx="4069080" cy="594360"/>
          </a:xfrm>
          <a:prstGeom prst="rect">
            <a:avLst/>
          </a:prstGeom>
          <a:noFill/>
          <a:ln/>
        </p:spPr>
        <p:txBody>
          <a:bodyPr wrap="square" lIns="0" tIns="0" rIns="0" bIns="0" rtlCol="0" anchor="t"/>
          <a:lstStyle/>
          <a:p>
            <a:pPr indent="0" marL="0">
              <a:buNone/>
            </a:pPr>
            <a:r>
              <a:rPr lang="en-US" sz="1500" dirty="0">
                <a:solidFill>
                  <a:schemeClr val="tx1"/>
                </a:solidFill>
              </a:rPr>
              <a:t>The flaw breaks exactly one of the three answers.</a:t>
            </a:r>
            <a:endParaRPr lang="en-US" sz="1500" dirty="0"/>
          </a:p>
        </p:txBody>
      </p:sp>
      <p:sp>
        <p:nvSpPr>
          <p:cNvPr id="33" name="Text 30"/>
          <p:cNvSpPr txBox="1"/>
          <p:nvPr/>
        </p:nvSpPr>
        <p:spPr>
          <a:xfrm>
            <a:off x="758952" y="4389120"/>
            <a:ext cx="1005840" cy="274320"/>
          </a:xfrm>
          <a:prstGeom prst="rect">
            <a:avLst/>
          </a:prstGeom>
          <a:noFill/>
          <a:ln/>
        </p:spPr>
        <p:txBody>
          <a:bodyPr wrap="square" lIns="0" tIns="0" rIns="0" bIns="0" rtlCol="0" anchor="t"/>
          <a:lstStyle/>
          <a:p>
            <a:pPr indent="0" marL="0">
              <a:buNone/>
            </a:pPr>
            <a:r>
              <a:rPr lang="en-US" sz="1100" dirty="0">
                <a:solidFill>
                  <a:schemeClr val="tx2"/>
                </a:solidFill>
                <a:latin typeface="Consolas" pitchFamily="34" charset="0"/>
                <a:ea typeface="Consolas" pitchFamily="34" charset="-122"/>
                <a:cs typeface="Consolas" pitchFamily="34" charset="-120"/>
              </a:rPr>
              <a:t>catchable</a:t>
            </a:r>
            <a:endParaRPr lang="en-US" sz="1100" dirty="0"/>
          </a:p>
        </p:txBody>
      </p:sp>
      <p:sp>
        <p:nvSpPr>
          <p:cNvPr id="34" name="Text 31"/>
          <p:cNvSpPr txBox="1"/>
          <p:nvPr/>
        </p:nvSpPr>
        <p:spPr>
          <a:xfrm>
            <a:off x="1856232" y="4361688"/>
            <a:ext cx="4069080" cy="594360"/>
          </a:xfrm>
          <a:prstGeom prst="rect">
            <a:avLst/>
          </a:prstGeom>
          <a:noFill/>
          <a:ln/>
        </p:spPr>
        <p:txBody>
          <a:bodyPr wrap="square" lIns="0" tIns="0" rIns="0" bIns="0" rtlCol="0" anchor="t"/>
          <a:lstStyle/>
          <a:p>
            <a:pPr indent="0" marL="0">
              <a:buNone/>
            </a:pPr>
            <a:r>
              <a:rPr lang="en-US" sz="1500" dirty="0">
                <a:solidFill>
                  <a:schemeClr val="tx1"/>
                </a:solidFill>
              </a:rPr>
              <a:t>A beginner can spot it: the AI contradicts itself, or a quick sum doesn't add up.</a:t>
            </a:r>
            <a:endParaRPr lang="en-US" sz="1500" dirty="0"/>
          </a:p>
        </p:txBody>
      </p:sp>
      <p:sp>
        <p:nvSpPr>
          <p:cNvPr id="35" name="Text 32"/>
          <p:cNvSpPr txBox="1"/>
          <p:nvPr/>
        </p:nvSpPr>
        <p:spPr>
          <a:xfrm>
            <a:off x="6245352" y="4389120"/>
            <a:ext cx="1005840" cy="274320"/>
          </a:xfrm>
          <a:prstGeom prst="rect">
            <a:avLst/>
          </a:prstGeom>
          <a:noFill/>
          <a:ln/>
        </p:spPr>
        <p:txBody>
          <a:bodyPr wrap="square" lIns="0" tIns="0" rIns="0" bIns="0" rtlCol="0" anchor="t"/>
          <a:lstStyle/>
          <a:p>
            <a:pPr indent="0" marL="0">
              <a:buNone/>
            </a:pPr>
            <a:r>
              <a:rPr lang="en-US" sz="1100" dirty="0">
                <a:solidFill>
                  <a:schemeClr val="tx2"/>
                </a:solidFill>
                <a:latin typeface="Consolas" pitchFamily="34" charset="0"/>
                <a:ea typeface="Consolas" pitchFamily="34" charset="-122"/>
                <a:cs typeface="Consolas" pitchFamily="34" charset="-120"/>
              </a:rPr>
              <a:t>asked last</a:t>
            </a:r>
            <a:endParaRPr lang="en-US" sz="1100" dirty="0"/>
          </a:p>
        </p:txBody>
      </p:sp>
      <p:sp>
        <p:nvSpPr>
          <p:cNvPr id="36" name="Text 33"/>
          <p:cNvSpPr txBox="1"/>
          <p:nvPr/>
        </p:nvSpPr>
        <p:spPr>
          <a:xfrm>
            <a:off x="7342632" y="4361688"/>
            <a:ext cx="4069080" cy="594360"/>
          </a:xfrm>
          <a:prstGeom prst="rect">
            <a:avLst/>
          </a:prstGeom>
          <a:noFill/>
          <a:ln/>
        </p:spPr>
        <p:txBody>
          <a:bodyPr wrap="square" lIns="0" tIns="0" rIns="0" bIns="0" rtlCol="0" anchor="t"/>
          <a:lstStyle/>
          <a:p>
            <a:pPr indent="0" marL="0">
              <a:buNone/>
            </a:pPr>
            <a:r>
              <a:rPr lang="en-US" sz="1500" dirty="0">
                <a:solidFill>
                  <a:schemeClr val="tx1"/>
                </a:solidFill>
              </a:rPr>
              <a:t>“Was there a mistake?” comes only at the very end.</a:t>
            </a:r>
            <a:endParaRPr lang="en-US" sz="1500" dirty="0"/>
          </a:p>
        </p:txBody>
      </p:sp>
      <p:sp>
        <p:nvSpPr>
          <p:cNvPr id="37" name="Text 34"/>
          <p:cNvSpPr txBox="1"/>
          <p:nvPr/>
        </p:nvSpPr>
        <p:spPr>
          <a:xfrm>
            <a:off x="758952" y="5166360"/>
            <a:ext cx="10671048" cy="502920"/>
          </a:xfrm>
          <a:prstGeom prst="rect">
            <a:avLst/>
          </a:prstGeom>
          <a:noFill/>
          <a:ln/>
        </p:spPr>
        <p:txBody>
          <a:bodyPr wrap="square" lIns="0" tIns="0" rIns="0" bIns="0" rtlCol="0" anchor="t"/>
          <a:lstStyle/>
          <a:p>
            <a:pPr indent="0" marL="0">
              <a:buNone/>
            </a:pPr>
            <a:r>
              <a:rPr lang="en-US" sz="1100" dirty="0">
                <a:solidFill>
                  <a:schemeClr val="tx2"/>
                </a:solidFill>
                <a:latin typeface="Consolas" pitchFamily="34" charset="0"/>
                <a:ea typeface="Consolas" pitchFamily="34" charset="-122"/>
                <a:cs typeface="Consolas" pitchFamily="34" charset="-120"/>
              </a:rPr>
              <a:t>One example participant. Format order, which cases are flawed and which question each flaw hits all rotate over 36 conditions, so every format gets flaws on easy, medium and hard questions equally often.</a:t>
            </a:r>
            <a:endParaRPr lang="en-US" sz="1100" dirty="0"/>
          </a:p>
        </p:txBody>
      </p:sp>
      <p:sp>
        <p:nvSpPr>
          <p:cNvPr id="25" name="Slide Number Placeholder 0"/>
          <p:cNvSpPr>
            <a:spLocks noGrp="1"/>
          </p:cNvSpPr>
          <p:nvPr>
            <p:ph type="sldNum" sz="quarter" idx="4294967295"/>
          </p:nvPr>
        </p:nvSpPr>
        <p:spPr>
          <a:xfrm>
            <a:off x="10881360" y="635508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758952" y="566928"/>
            <a:ext cx="10671048" cy="274320"/>
          </a:xfrm>
          <a:prstGeom prst="rect">
            <a:avLst/>
          </a:prstGeom>
          <a:noFill/>
          <a:ln/>
        </p:spPr>
        <p:txBody>
          <a:bodyPr wrap="square" lIns="0" tIns="0" rIns="0" bIns="0" rtlCol="0" anchor="t"/>
          <a:lstStyle/>
          <a:p>
            <a:pPr indent="0" marL="0">
              <a:buNone/>
            </a:pPr>
            <a:r>
              <a:rPr lang="en-US" sz="1100" spc="200" kern="0" dirty="0">
                <a:solidFill>
                  <a:schemeClr val="tx2"/>
                </a:solidFill>
                <a:latin typeface="Consolas" pitchFamily="34" charset="0"/>
                <a:ea typeface="Consolas" pitchFamily="34" charset="-122"/>
                <a:cs typeface="Consolas" pitchFamily="34" charset="-120"/>
              </a:rPr>
              <a:t>WHAT WE MEASURE</a:t>
            </a:r>
            <a:endParaRPr lang="en-US" sz="1100" dirty="0"/>
          </a:p>
        </p:txBody>
      </p:sp>
      <p:sp>
        <p:nvSpPr>
          <p:cNvPr id="3" name="Text 0"/>
          <p:cNvSpPr/>
          <p:nvPr>
            <p:ph idx="101" type="title" hasCustomPrompt="1"/>
          </p:nvPr>
        </p:nvSpPr>
        <p:spPr>
          <a:xfrm>
            <a:off x="758952" y="868680"/>
            <a:ext cx="10671048" cy="1005840"/>
          </a:xfrm>
          <a:prstGeom prst="rect">
            <a:avLst/>
          </a:prstGeom>
          <a:noFill/>
          <a:ln/>
        </p:spPr>
        <p:txBody>
          <a:bodyPr wrap="square" lIns="0" tIns="0" rIns="0" bIns="0" rtlCol="0" anchor="t"/>
          <a:lstStyle/>
          <a:p>
            <a:pPr algn="l" indent="0" marL="0">
              <a:lnSpc>
                <a:spcPct val="95000"/>
              </a:lnSpc>
              <a:buNone/>
            </a:pPr>
            <a:r>
              <a:rPr lang="en-US" sz="3200" b="1" dirty="0">
                <a:solidFill>
                  <a:schemeClr val="tx1"/>
                </a:solidFill>
              </a:rPr>
              <a:t>Do people follow the mistake, and do they know it?</a:t>
            </a:r>
            <a:endParaRPr lang="en-US" sz="3200" dirty="0"/>
          </a:p>
        </p:txBody>
      </p:sp>
      <p:sp>
        <p:nvSpPr>
          <p:cNvPr id="5" name="Flaw adoption · main outcome"/>
          <p:cNvSpPr/>
          <p:nvPr/>
        </p:nvSpPr>
        <p:spPr>
          <a:xfrm>
            <a:off x="758952" y="2011680"/>
            <a:ext cx="5184648" cy="1188720"/>
          </a:xfrm>
          <a:prstGeom prst="roundRect">
            <a:avLst>
              <a:gd name="adj" fmla="val 3846"/>
            </a:avLst>
          </a:prstGeom>
          <a:solidFill>
            <a:schemeClr val="accent5"/>
          </a:solidFill>
          <a:ln/>
        </p:spPr>
      </p:sp>
      <p:sp>
        <p:nvSpPr>
          <p:cNvPr id="6" name="Text 3"/>
          <p:cNvSpPr txBox="1"/>
          <p:nvPr/>
        </p:nvSpPr>
        <p:spPr>
          <a:xfrm>
            <a:off x="1033272" y="2194560"/>
            <a:ext cx="4663440" cy="365760"/>
          </a:xfrm>
          <a:prstGeom prst="rect">
            <a:avLst/>
          </a:prstGeom>
          <a:noFill/>
          <a:ln/>
        </p:spPr>
        <p:txBody>
          <a:bodyPr wrap="square" lIns="0" tIns="0" rIns="0" bIns="0" rtlCol="0" anchor="t"/>
          <a:lstStyle/>
          <a:p>
            <a:pPr indent="0" marL="0">
              <a:buNone/>
            </a:pPr>
            <a:r>
              <a:rPr lang="en-US" sz="1800" b="1" dirty="0">
                <a:solidFill>
                  <a:schemeClr val="accent4"/>
                </a:solidFill>
                <a:latin typeface="Arial" pitchFamily="34" charset="0"/>
                <a:ea typeface="Arial" pitchFamily="34" charset="-122"/>
                <a:cs typeface="Arial" pitchFamily="34" charset="-120"/>
              </a:rPr>
              <a:t>Flaw adoption · main outcome</a:t>
            </a:r>
            <a:endParaRPr lang="en-US" sz="1800" dirty="0"/>
          </a:p>
        </p:txBody>
      </p:sp>
      <p:sp>
        <p:nvSpPr>
          <p:cNvPr id="7" name="Text 4"/>
          <p:cNvSpPr txBox="1"/>
          <p:nvPr/>
        </p:nvSpPr>
        <p:spPr>
          <a:xfrm>
            <a:off x="1033272" y="2578608"/>
            <a:ext cx="4663440" cy="548640"/>
          </a:xfrm>
          <a:prstGeom prst="rect">
            <a:avLst/>
          </a:prstGeom>
          <a:noFill/>
          <a:ln/>
        </p:spPr>
        <p:txBody>
          <a:bodyPr wrap="square" lIns="0" tIns="0" rIns="0" bIns="0" rtlCol="0" anchor="t"/>
          <a:lstStyle/>
          <a:p>
            <a:pPr indent="0" marL="0">
              <a:buNone/>
            </a:pPr>
            <a:r>
              <a:rPr lang="en-US" sz="1500" dirty="0">
                <a:solidFill>
                  <a:schemeClr val="tx2"/>
                </a:solidFill>
              </a:rPr>
              <a:t>On the affected question, did they give exactly the wrong answer the flaw leads to?</a:t>
            </a:r>
            <a:endParaRPr lang="en-US" sz="1500" dirty="0"/>
          </a:p>
        </p:txBody>
      </p:sp>
      <p:sp>
        <p:nvSpPr>
          <p:cNvPr id="8" name="Learning from correct explanations"/>
          <p:cNvSpPr/>
          <p:nvPr/>
        </p:nvSpPr>
        <p:spPr>
          <a:xfrm>
            <a:off x="6245352" y="2011680"/>
            <a:ext cx="5184648" cy="1188720"/>
          </a:xfrm>
          <a:prstGeom prst="roundRect">
            <a:avLst>
              <a:gd name="adj" fmla="val 3846"/>
            </a:avLst>
          </a:prstGeom>
          <a:solidFill>
            <a:schemeClr val="bg2"/>
          </a:solidFill>
          <a:ln/>
        </p:spPr>
      </p:sp>
      <p:sp>
        <p:nvSpPr>
          <p:cNvPr id="9" name="Text 6"/>
          <p:cNvSpPr txBox="1"/>
          <p:nvPr/>
        </p:nvSpPr>
        <p:spPr>
          <a:xfrm>
            <a:off x="6519672" y="2194560"/>
            <a:ext cx="466344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Learning from correct explanations</a:t>
            </a:r>
            <a:endParaRPr lang="en-US" sz="1800" dirty="0"/>
          </a:p>
        </p:txBody>
      </p:sp>
      <p:sp>
        <p:nvSpPr>
          <p:cNvPr id="10" name="Text 7"/>
          <p:cNvSpPr txBox="1"/>
          <p:nvPr/>
        </p:nvSpPr>
        <p:spPr>
          <a:xfrm>
            <a:off x="6519672" y="2578608"/>
            <a:ext cx="4663440" cy="548640"/>
          </a:xfrm>
          <a:prstGeom prst="rect">
            <a:avLst/>
          </a:prstGeom>
          <a:noFill/>
          <a:ln/>
        </p:spPr>
        <p:txBody>
          <a:bodyPr wrap="square" lIns="0" tIns="0" rIns="0" bIns="0" rtlCol="0" anchor="t"/>
          <a:lstStyle/>
          <a:p>
            <a:pPr indent="0" marL="0">
              <a:buNone/>
            </a:pPr>
            <a:r>
              <a:rPr lang="en-US" sz="1500" dirty="0">
                <a:solidFill>
                  <a:schemeClr val="tx2"/>
                </a:solidFill>
              </a:rPr>
              <a:t>Is a format simply harder to learn from? That's a different story from more convincing.</a:t>
            </a:r>
            <a:endParaRPr lang="en-US" sz="1500" dirty="0"/>
          </a:p>
        </p:txBody>
      </p:sp>
      <p:sp>
        <p:nvSpPr>
          <p:cNvPr id="11" name="Trust"/>
          <p:cNvSpPr/>
          <p:nvPr/>
        </p:nvSpPr>
        <p:spPr>
          <a:xfrm>
            <a:off x="758952" y="3383280"/>
            <a:ext cx="5184648" cy="1188720"/>
          </a:xfrm>
          <a:prstGeom prst="roundRect">
            <a:avLst>
              <a:gd name="adj" fmla="val 3846"/>
            </a:avLst>
          </a:prstGeom>
          <a:solidFill>
            <a:schemeClr val="bg2"/>
          </a:solidFill>
          <a:ln/>
        </p:spPr>
      </p:sp>
      <p:sp>
        <p:nvSpPr>
          <p:cNvPr id="12" name="Text 9"/>
          <p:cNvSpPr txBox="1"/>
          <p:nvPr/>
        </p:nvSpPr>
        <p:spPr>
          <a:xfrm>
            <a:off x="1033272" y="3566160"/>
            <a:ext cx="466344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Trust</a:t>
            </a:r>
            <a:endParaRPr lang="en-US" sz="1800" dirty="0"/>
          </a:p>
        </p:txBody>
      </p:sp>
      <p:sp>
        <p:nvSpPr>
          <p:cNvPr id="13" name="Text 10"/>
          <p:cNvSpPr txBox="1"/>
          <p:nvPr/>
        </p:nvSpPr>
        <p:spPr>
          <a:xfrm>
            <a:off x="1033272" y="3950208"/>
            <a:ext cx="4663440" cy="548640"/>
          </a:xfrm>
          <a:prstGeom prst="rect">
            <a:avLst/>
          </a:prstGeom>
          <a:noFill/>
          <a:ln/>
        </p:spPr>
        <p:txBody>
          <a:bodyPr wrap="square" lIns="0" tIns="0" rIns="0" bIns="0" rtlCol="0" anchor="t"/>
          <a:lstStyle/>
          <a:p>
            <a:pPr indent="0" marL="0">
              <a:buNone/>
            </a:pPr>
            <a:r>
              <a:rPr lang="en-US" sz="1500" dirty="0">
                <a:solidFill>
                  <a:schemeClr val="tx2"/>
                </a:solidFill>
              </a:rPr>
              <a:t>Rated right after each explanation, before answering.</a:t>
            </a:r>
            <a:endParaRPr lang="en-US" sz="1500" dirty="0"/>
          </a:p>
        </p:txBody>
      </p:sp>
      <p:sp>
        <p:nvSpPr>
          <p:cNvPr id="14" name="Calibration"/>
          <p:cNvSpPr/>
          <p:nvPr/>
        </p:nvSpPr>
        <p:spPr>
          <a:xfrm>
            <a:off x="6245352" y="3383280"/>
            <a:ext cx="5184648" cy="1188720"/>
          </a:xfrm>
          <a:prstGeom prst="roundRect">
            <a:avLst>
              <a:gd name="adj" fmla="val 3846"/>
            </a:avLst>
          </a:prstGeom>
          <a:solidFill>
            <a:schemeClr val="bg2"/>
          </a:solidFill>
          <a:ln/>
        </p:spPr>
      </p:sp>
      <p:sp>
        <p:nvSpPr>
          <p:cNvPr id="15" name="Text 12"/>
          <p:cNvSpPr txBox="1"/>
          <p:nvPr/>
        </p:nvSpPr>
        <p:spPr>
          <a:xfrm>
            <a:off x="6519672" y="3566160"/>
            <a:ext cx="466344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Calibration</a:t>
            </a:r>
            <a:endParaRPr lang="en-US" sz="1800" dirty="0"/>
          </a:p>
        </p:txBody>
      </p:sp>
      <p:sp>
        <p:nvSpPr>
          <p:cNvPr id="16" name="Text 13"/>
          <p:cNvSpPr txBox="1"/>
          <p:nvPr/>
        </p:nvSpPr>
        <p:spPr>
          <a:xfrm>
            <a:off x="6519672" y="3950208"/>
            <a:ext cx="4663440" cy="548640"/>
          </a:xfrm>
          <a:prstGeom prst="rect">
            <a:avLst/>
          </a:prstGeom>
          <a:noFill/>
          <a:ln/>
        </p:spPr>
        <p:txBody>
          <a:bodyPr wrap="square" lIns="0" tIns="0" rIns="0" bIns="0" rtlCol="0" anchor="t"/>
          <a:lstStyle/>
          <a:p>
            <a:pPr indent="0" marL="0">
              <a:buNone/>
            </a:pPr>
            <a:r>
              <a:rPr lang="en-US" sz="1500" dirty="0">
                <a:solidFill>
                  <a:schemeClr val="tx2"/>
                </a:solidFill>
              </a:rPr>
              <a:t>Does confidence match whether the answer is actually correct?</a:t>
            </a:r>
            <a:endParaRPr lang="en-US" sz="1500" dirty="0"/>
          </a:p>
        </p:txBody>
      </p:sp>
      <p:sp>
        <p:nvSpPr>
          <p:cNvPr id="17" name="Text 14"/>
          <p:cNvSpPr txBox="1"/>
          <p:nvPr/>
        </p:nvSpPr>
        <p:spPr>
          <a:xfrm>
            <a:off x="758952" y="4892040"/>
            <a:ext cx="10671048" cy="457200"/>
          </a:xfrm>
          <a:prstGeom prst="rect">
            <a:avLst/>
          </a:prstGeom>
          <a:noFill/>
          <a:ln/>
        </p:spPr>
        <p:txBody>
          <a:bodyPr wrap="square" lIns="0" tIns="0" rIns="0" bIns="0" rtlCol="0" anchor="t"/>
          <a:lstStyle/>
          <a:p>
            <a:pPr indent="0" marL="0">
              <a:buNone/>
            </a:pPr>
            <a:r>
              <a:rPr lang="en-US" sz="1500" dirty="0">
                <a:solidFill>
                  <a:schemeClr val="tx1"/>
                </a:solidFill>
                <a:latin typeface="Consolas" pitchFamily="34" charset="0"/>
                <a:ea typeface="Consolas" pitchFamily="34" charset="-122"/>
                <a:cs typeface="Consolas" pitchFamily="34" charset="-120"/>
              </a:rPr>
              <a:t>Analysis: </a:t>
            </a:r>
            <a:pPr indent="0" marL="0">
              <a:buNone/>
            </a:pPr>
            <a:r>
              <a:rPr lang="en-US" sz="1500" dirty="0">
                <a:solidFill>
                  <a:schemeClr val="tx2"/>
                </a:solidFill>
              </a:rPr>
              <a:t>mixed logistic regression with participant and case as random effects, compared across </a:t>
            </a:r>
            <a:pPr indent="0" marL="0">
              <a:buNone/>
            </a:pPr>
            <a:r>
              <a:rPr lang="en-US" sz="1500" b="1" dirty="0">
                <a:solidFill>
                  <a:schemeClr val="accent1"/>
                </a:solidFill>
              </a:rPr>
              <a:t>text</a:t>
            </a:r>
            <a:pPr indent="0" marL="0">
              <a:buNone/>
            </a:pPr>
            <a:r>
              <a:rPr lang="en-US" sz="1500" dirty="0">
                <a:solidFill>
                  <a:schemeClr val="tx2"/>
                </a:solidFill>
              </a:rPr>
              <a:t>, </a:t>
            </a:r>
            <a:pPr indent="0" marL="0">
              <a:buNone/>
            </a:pPr>
            <a:r>
              <a:rPr lang="en-US" sz="1500" b="1" dirty="0">
                <a:solidFill>
                  <a:schemeClr val="accent2"/>
                </a:solidFill>
              </a:rPr>
              <a:t>voice</a:t>
            </a:r>
            <a:pPr indent="0" marL="0">
              <a:buNone/>
            </a:pPr>
            <a:r>
              <a:rPr lang="en-US" sz="1500" dirty="0">
                <a:solidFill>
                  <a:schemeClr val="tx2"/>
                </a:solidFill>
              </a:rPr>
              <a:t> and </a:t>
            </a:r>
            <a:pPr indent="0" marL="0">
              <a:buNone/>
            </a:pPr>
            <a:r>
              <a:rPr lang="en-US" sz="1500" b="1" dirty="0">
                <a:solidFill>
                  <a:schemeClr val="accent3"/>
                </a:solidFill>
              </a:rPr>
              <a:t>voice + face</a:t>
            </a:r>
            <a:pPr indent="0" marL="0">
              <a:buNone/>
            </a:pPr>
            <a:r>
              <a:rPr lang="en-US" sz="1500" dirty="0">
                <a:solidFill>
                  <a:schemeClr val="tx2"/>
                </a:solidFill>
              </a:rPr>
              <a:t>.</a:t>
            </a:r>
            <a:endParaRPr lang="en-US" sz="1500" dirty="0"/>
          </a:p>
        </p:txBody>
      </p:sp>
      <p:sp>
        <p:nvSpPr>
          <p:cNvPr id="25" name="Slide Number Placeholder 0"/>
          <p:cNvSpPr>
            <a:spLocks noGrp="1"/>
          </p:cNvSpPr>
          <p:nvPr>
            <p:ph type="sldNum" sz="quarter" idx="4294967295"/>
          </p:nvPr>
        </p:nvSpPr>
        <p:spPr>
          <a:xfrm>
            <a:off x="10881360" y="635508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758952" y="566928"/>
            <a:ext cx="10671048" cy="274320"/>
          </a:xfrm>
          <a:prstGeom prst="rect">
            <a:avLst/>
          </a:prstGeom>
          <a:noFill/>
          <a:ln/>
        </p:spPr>
        <p:txBody>
          <a:bodyPr wrap="square" lIns="0" tIns="0" rIns="0" bIns="0" rtlCol="0" anchor="t"/>
          <a:lstStyle/>
          <a:p>
            <a:pPr indent="0" marL="0">
              <a:buNone/>
            </a:pPr>
            <a:r>
              <a:rPr lang="en-US" sz="1100" spc="200" kern="0" dirty="0">
                <a:solidFill>
                  <a:schemeClr val="tx2"/>
                </a:solidFill>
                <a:latin typeface="Consolas" pitchFamily="34" charset="0"/>
                <a:ea typeface="Consolas" pitchFamily="34" charset="-122"/>
                <a:cs typeface="Consolas" pitchFamily="34" charset="-120"/>
              </a:rPr>
              <a:t>IS THIS FEASIBLE?</a:t>
            </a:r>
            <a:endParaRPr lang="en-US" sz="1100" dirty="0"/>
          </a:p>
        </p:txBody>
      </p:sp>
      <p:sp>
        <p:nvSpPr>
          <p:cNvPr id="3" name="Text 0"/>
          <p:cNvSpPr/>
          <p:nvPr>
            <p:ph idx="101" type="title" hasCustomPrompt="1"/>
          </p:nvPr>
        </p:nvSpPr>
        <p:spPr>
          <a:xfrm>
            <a:off x="758952" y="868680"/>
            <a:ext cx="10671048" cy="1005840"/>
          </a:xfrm>
          <a:prstGeom prst="rect">
            <a:avLst/>
          </a:prstGeom>
          <a:noFill/>
          <a:ln/>
        </p:spPr>
        <p:txBody>
          <a:bodyPr wrap="square" lIns="0" tIns="0" rIns="0" bIns="0" rtlCol="0" anchor="t"/>
          <a:lstStyle/>
          <a:p>
            <a:pPr algn="l" indent="0" marL="0">
              <a:lnSpc>
                <a:spcPct val="95000"/>
              </a:lnSpc>
              <a:buNone/>
            </a:pPr>
            <a:r>
              <a:rPr lang="en-US" sz="3200" b="1" dirty="0">
                <a:solidFill>
                  <a:schemeClr val="tx1"/>
                </a:solidFill>
              </a:rPr>
              <a:t>Small, online, and honest about its limits</a:t>
            </a:r>
            <a:endParaRPr lang="en-US" sz="3200" dirty="0"/>
          </a:p>
        </p:txBody>
      </p:sp>
      <p:sp>
        <p:nvSpPr>
          <p:cNvPr id="5" name="WHAT IT TAKES"/>
          <p:cNvSpPr/>
          <p:nvPr/>
        </p:nvSpPr>
        <p:spPr>
          <a:xfrm>
            <a:off x="758952" y="1828800"/>
            <a:ext cx="5184648" cy="3566160"/>
          </a:xfrm>
          <a:prstGeom prst="roundRect">
            <a:avLst>
              <a:gd name="adj" fmla="val 1282"/>
            </a:avLst>
          </a:prstGeom>
          <a:solidFill>
            <a:schemeClr val="bg2"/>
          </a:solidFill>
          <a:ln/>
        </p:spPr>
      </p:sp>
      <p:sp>
        <p:nvSpPr>
          <p:cNvPr id="6" name="Text 3"/>
          <p:cNvSpPr txBox="1"/>
          <p:nvPr/>
        </p:nvSpPr>
        <p:spPr>
          <a:xfrm>
            <a:off x="1033272" y="2057400"/>
            <a:ext cx="4572000" cy="274320"/>
          </a:xfrm>
          <a:prstGeom prst="rect">
            <a:avLst/>
          </a:prstGeom>
          <a:noFill/>
          <a:ln/>
        </p:spPr>
        <p:txBody>
          <a:bodyPr wrap="square" lIns="0" tIns="0" rIns="0" bIns="0" rtlCol="0" anchor="t"/>
          <a:lstStyle/>
          <a:p>
            <a:pPr indent="0" marL="0">
              <a:buNone/>
            </a:pPr>
            <a:r>
              <a:rPr lang="en-US" sz="1200" b="1" spc="200" kern="0" dirty="0">
                <a:solidFill>
                  <a:schemeClr val="accent2"/>
                </a:solidFill>
                <a:latin typeface="Consolas" pitchFamily="34" charset="0"/>
                <a:ea typeface="Consolas" pitchFamily="34" charset="-122"/>
                <a:cs typeface="Consolas" pitchFamily="34" charset="-120"/>
              </a:rPr>
              <a:t>WHAT IT TAKES</a:t>
            </a:r>
            <a:endParaRPr lang="en-US" sz="1200" dirty="0"/>
          </a:p>
        </p:txBody>
      </p:sp>
      <p:sp>
        <p:nvSpPr>
          <p:cNvPr id="7" name="Text 4"/>
          <p:cNvSpPr txBox="1"/>
          <p:nvPr/>
        </p:nvSpPr>
        <p:spPr>
          <a:xfrm>
            <a:off x="1033272" y="2468880"/>
            <a:ext cx="4663440" cy="2743200"/>
          </a:xfrm>
          <a:prstGeom prst="rect">
            <a:avLst/>
          </a:prstGeom>
          <a:noFill/>
          <a:ln/>
        </p:spPr>
        <p:txBody>
          <a:bodyPr wrap="square" lIns="0" tIns="0" rIns="0" bIns="0" rtlCol="0" anchor="t"/>
          <a:lstStyle/>
          <a:p>
            <a:pPr marL="228600" indent="-228600">
              <a:spcAft>
                <a:spcPts val="1000"/>
              </a:spcAft>
              <a:buSzPct val="100000"/>
              <a:buChar char="•"/>
            </a:pPr>
            <a:r>
              <a:rPr lang="en-US" sz="1600" b="1" dirty="0">
                <a:solidFill>
                  <a:schemeClr val="tx1"/>
                </a:solidFill>
              </a:rPr>
              <a:t>36 participants</a:t>
            </a:r>
            <a:pPr indent="0" marL="0">
              <a:buNone/>
            </a:pPr>
            <a:r>
              <a:rPr lang="en-US" sz="1600" dirty="0">
                <a:solidFill>
                  <a:schemeClr val="tx1"/>
                </a:solidFill>
              </a:rPr>
              <a:t> minimum (one per condition), ideally 72</a:t>
            </a:r>
            <a:endParaRPr lang="en-US" sz="1600" dirty="0"/>
          </a:p>
          <a:p>
            <a:pPr marL="228600" indent="-228600">
              <a:spcAft>
                <a:spcPts val="1000"/>
              </a:spcAft>
              <a:buSzPct val="100000"/>
              <a:buChar char="•"/>
            </a:pPr>
            <a:r>
              <a:rPr lang="en-US" sz="1600" dirty="0">
                <a:solidFill>
                  <a:schemeClr val="tx1"/>
                </a:solidFill>
              </a:rPr>
              <a:t>A </a:t>
            </a:r>
            <a:pPr indent="0" marL="0">
              <a:buNone/>
            </a:pPr>
            <a:r>
              <a:rPr lang="en-US" sz="1600" b="1" dirty="0">
                <a:solidFill>
                  <a:schemeClr val="tx1"/>
                </a:solidFill>
              </a:rPr>
              <a:t>30-minute online survey</a:t>
            </a:r>
            <a:pPr indent="0" marL="0">
              <a:buNone/>
            </a:pPr>
            <a:r>
              <a:rPr lang="en-US" sz="1600" dirty="0">
                <a:solidFill>
                  <a:schemeClr val="tx1"/>
                </a:solidFill>
              </a:rPr>
              <a:t> on a laptop, collected within one week</a:t>
            </a:r>
            <a:endParaRPr lang="en-US" sz="1600" dirty="0"/>
          </a:p>
          <a:p>
            <a:pPr marL="228600" indent="-228600">
              <a:spcAft>
                <a:spcPts val="1000"/>
              </a:spcAft>
              <a:buSzPct val="100000"/>
              <a:buChar char="•"/>
            </a:pPr>
            <a:r>
              <a:rPr lang="en-US" sz="1600" dirty="0">
                <a:solidFill>
                  <a:schemeClr val="tx1"/>
                </a:solidFill>
              </a:rPr>
              <a:t>The </a:t>
            </a:r>
            <a:pPr indent="0" marL="0">
              <a:buNone/>
            </a:pPr>
            <a:r>
              <a:rPr lang="en-US" sz="1600" b="1" dirty="0">
                <a:solidFill>
                  <a:schemeClr val="tx1"/>
                </a:solidFill>
              </a:rPr>
              <a:t>survey site already works</a:t>
            </a:r>
            <a:pPr indent="0" marL="0">
              <a:buNone/>
            </a:pPr>
            <a:r>
              <a:rPr lang="en-US" sz="1600" dirty="0">
                <a:solidFill>
                  <a:schemeClr val="tx1"/>
                </a:solidFill>
              </a:rPr>
              <a:t>: demo on the next slide</a:t>
            </a:r>
            <a:endParaRPr lang="en-US" sz="1600" dirty="0"/>
          </a:p>
          <a:p>
            <a:pPr marL="228600" indent="-228600">
              <a:spcAft>
                <a:spcPts val="1000"/>
              </a:spcAft>
              <a:buSzPct val="100000"/>
              <a:buChar char="•"/>
            </a:pPr>
            <a:r>
              <a:rPr lang="en-US" sz="1600" dirty="0">
                <a:solidFill>
                  <a:schemeClr val="tx1"/>
                </a:solidFill>
              </a:rPr>
              <a:t>Still to record: 12 scripts × 3 formats = 36 clips (TTS voice + avatar tool)</a:t>
            </a:r>
            <a:endParaRPr lang="en-US" sz="1600" dirty="0"/>
          </a:p>
        </p:txBody>
      </p:sp>
      <p:sp>
        <p:nvSpPr>
          <p:cNvPr id="8" name="WHAT IT CAN'T DO"/>
          <p:cNvSpPr/>
          <p:nvPr/>
        </p:nvSpPr>
        <p:spPr>
          <a:xfrm>
            <a:off x="6245352" y="1828800"/>
            <a:ext cx="5184648" cy="3566160"/>
          </a:xfrm>
          <a:prstGeom prst="roundRect">
            <a:avLst>
              <a:gd name="adj" fmla="val 1282"/>
            </a:avLst>
          </a:prstGeom>
          <a:solidFill>
            <a:schemeClr val="accent5"/>
          </a:solidFill>
          <a:ln/>
        </p:spPr>
      </p:sp>
      <p:sp>
        <p:nvSpPr>
          <p:cNvPr id="9" name="Text 6"/>
          <p:cNvSpPr txBox="1"/>
          <p:nvPr/>
        </p:nvSpPr>
        <p:spPr>
          <a:xfrm>
            <a:off x="6519672" y="2057400"/>
            <a:ext cx="4572000" cy="274320"/>
          </a:xfrm>
          <a:prstGeom prst="rect">
            <a:avLst/>
          </a:prstGeom>
          <a:noFill/>
          <a:ln/>
        </p:spPr>
        <p:txBody>
          <a:bodyPr wrap="square" lIns="0" tIns="0" rIns="0" bIns="0" rtlCol="0" anchor="t"/>
          <a:lstStyle/>
          <a:p>
            <a:pPr indent="0" marL="0">
              <a:buNone/>
            </a:pPr>
            <a:r>
              <a:rPr lang="en-US" sz="1200" b="1" spc="200" kern="0" dirty="0">
                <a:solidFill>
                  <a:schemeClr val="accent4"/>
                </a:solidFill>
                <a:latin typeface="Consolas" pitchFamily="34" charset="0"/>
                <a:ea typeface="Consolas" pitchFamily="34" charset="-122"/>
                <a:cs typeface="Consolas" pitchFamily="34" charset="-120"/>
              </a:rPr>
              <a:t>WHAT IT CAN'T DO</a:t>
            </a:r>
            <a:endParaRPr lang="en-US" sz="1200" dirty="0"/>
          </a:p>
        </p:txBody>
      </p:sp>
      <p:sp>
        <p:nvSpPr>
          <p:cNvPr id="10" name="Text 7"/>
          <p:cNvSpPr txBox="1"/>
          <p:nvPr/>
        </p:nvSpPr>
        <p:spPr>
          <a:xfrm>
            <a:off x="6519672" y="2468880"/>
            <a:ext cx="4663440" cy="274320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Detect only </a:t>
            </a:r>
            <a:pPr indent="0" marL="0">
              <a:buNone/>
            </a:pPr>
            <a:r>
              <a:rPr lang="en-US" sz="1600" b="1" dirty="0">
                <a:solidFill>
                  <a:schemeClr val="tx1"/>
                </a:solidFill>
              </a:rPr>
              <a:t>large effects</a:t>
            </a:r>
            <a:pPr indent="0" marL="0">
              <a:buNone/>
            </a:pPr>
            <a:r>
              <a:rPr lang="en-US" sz="1600" dirty="0">
                <a:solidFill>
                  <a:schemeClr val="tx1"/>
                </a:solidFill>
              </a:rPr>
              <a:t>: we present it as an exploratory pilot</a:t>
            </a:r>
            <a:endParaRPr lang="en-US" sz="1600" dirty="0"/>
          </a:p>
          <a:p>
            <a:pPr marL="228600" indent="-228600">
              <a:spcAft>
                <a:spcPts val="1000"/>
              </a:spcAft>
              <a:buSzPct val="100000"/>
              <a:buChar char="•"/>
            </a:pPr>
            <a:r>
              <a:rPr lang="en-US" sz="1600" dirty="0">
                <a:solidFill>
                  <a:schemeClr val="tx1"/>
                </a:solidFill>
              </a:rPr>
              <a:t>Text can be re-read, voice can't: </a:t>
            </a:r>
            <a:pPr indent="0" marL="0">
              <a:buNone/>
            </a:pPr>
            <a:r>
              <a:rPr lang="en-US" sz="1600" b="1" dirty="0">
                <a:solidFill>
                  <a:schemeClr val="tx1"/>
                </a:solidFill>
              </a:rPr>
              <a:t>voice vs. face</a:t>
            </a:r>
            <a:pPr indent="0" marL="0">
              <a:buNone/>
            </a:pPr>
            <a:r>
              <a:rPr lang="en-US" sz="1600" dirty="0">
                <a:solidFill>
                  <a:schemeClr val="tx1"/>
                </a:solidFill>
              </a:rPr>
              <a:t> is the cleanest comparison</a:t>
            </a:r>
            <a:endParaRPr lang="en-US" sz="1600" dirty="0"/>
          </a:p>
          <a:p>
            <a:pPr marL="228600" indent="-228600">
              <a:spcAft>
                <a:spcPts val="1000"/>
              </a:spcAft>
              <a:buSzPct val="100000"/>
              <a:buChar char="•"/>
            </a:pPr>
            <a:r>
              <a:rPr lang="en-US" sz="1600" dirty="0">
                <a:solidFill>
                  <a:schemeClr val="tx1"/>
                </a:solidFill>
              </a:rPr>
              <a:t>One voice and one avatar, so results may depend on them</a:t>
            </a:r>
            <a:endParaRPr lang="en-US" sz="1600" dirty="0"/>
          </a:p>
          <a:p>
            <a:pPr marL="228600" indent="-228600">
              <a:spcAft>
                <a:spcPts val="1000"/>
              </a:spcAft>
              <a:buSzPct val="100000"/>
              <a:buChar char="•"/>
            </a:pPr>
            <a:r>
              <a:rPr lang="en-US" sz="1600" dirty="0">
                <a:solidFill>
                  <a:schemeClr val="tx1"/>
                </a:solidFill>
              </a:rPr>
              <a:t>Mild deception: everyone gets a </a:t>
            </a:r>
            <a:pPr indent="0" marL="0">
              <a:buNone/>
            </a:pPr>
            <a:r>
              <a:rPr lang="en-US" sz="1600" b="1" dirty="0">
                <a:solidFill>
                  <a:schemeClr val="tx1"/>
                </a:solidFill>
              </a:rPr>
              <a:t>full debrief</a:t>
            </a:r>
            <a:pPr indent="0" marL="0">
              <a:buNone/>
            </a:pPr>
            <a:r>
              <a:rPr lang="en-US" sz="1600" dirty="0">
                <a:solidFill>
                  <a:schemeClr val="tx1"/>
                </a:solidFill>
              </a:rPr>
              <a:t> that corrects every mistake</a:t>
            </a:r>
            <a:endParaRPr lang="en-US" sz="1600" dirty="0"/>
          </a:p>
        </p:txBody>
      </p:sp>
      <p:sp>
        <p:nvSpPr>
          <p:cNvPr id="25" name="Slide Number Placeholder 0"/>
          <p:cNvSpPr>
            <a:spLocks noGrp="1"/>
          </p:cNvSpPr>
          <p:nvPr>
            <p:ph type="sldNum" sz="quarter" idx="4294967295"/>
          </p:nvPr>
        </p:nvSpPr>
        <p:spPr>
          <a:xfrm>
            <a:off x="10881360" y="635508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758952" y="612648"/>
            <a:ext cx="10671048" cy="274320"/>
          </a:xfrm>
          <a:prstGeom prst="rect">
            <a:avLst/>
          </a:prstGeom>
          <a:noFill/>
          <a:ln/>
        </p:spPr>
        <p:txBody>
          <a:bodyPr wrap="square" lIns="0" tIns="0" rIns="0" bIns="0" rtlCol="0" anchor="t"/>
          <a:lstStyle/>
          <a:p>
            <a:pPr indent="0" marL="0">
              <a:buNone/>
            </a:pPr>
            <a:r>
              <a:rPr lang="en-US" sz="1100" spc="200" kern="0" dirty="0">
                <a:solidFill>
                  <a:schemeClr val="tx2"/>
                </a:solidFill>
                <a:latin typeface="Consolas" pitchFamily="34" charset="0"/>
                <a:ea typeface="Consolas" pitchFamily="34" charset="-122"/>
                <a:cs typeface="Consolas" pitchFamily="34" charset="-120"/>
              </a:rPr>
              <a:t>THE SURVEY WEBSITE</a:t>
            </a:r>
            <a:endParaRPr lang="en-US" sz="1100" dirty="0"/>
          </a:p>
        </p:txBody>
      </p:sp>
      <p:sp>
        <p:nvSpPr>
          <p:cNvPr id="3" name="Text 0"/>
          <p:cNvSpPr/>
          <p:nvPr>
            <p:ph idx="101" type="title" hasCustomPrompt="1"/>
          </p:nvPr>
        </p:nvSpPr>
        <p:spPr>
          <a:xfrm>
            <a:off x="758952" y="1828800"/>
            <a:ext cx="6583680" cy="1920240"/>
          </a:xfrm>
          <a:prstGeom prst="rect">
            <a:avLst/>
          </a:prstGeom>
          <a:noFill/>
          <a:ln/>
        </p:spPr>
        <p:txBody>
          <a:bodyPr wrap="square" lIns="0" tIns="0" rIns="0" bIns="0" rtlCol="0" anchor="b"/>
          <a:lstStyle/>
          <a:p>
            <a:pPr algn="l" indent="0" marL="0">
              <a:lnSpc>
                <a:spcPct val="90000"/>
              </a:lnSpc>
              <a:buNone/>
            </a:pPr>
            <a:r>
              <a:rPr lang="en-US" sz="6400" b="1" dirty="0">
                <a:solidFill>
                  <a:schemeClr val="tx1"/>
                </a:solidFill>
              </a:rPr>
              <a:t>Try it</a:t>
            </a:r>
            <a:endParaRPr lang="en-US" sz="6400" dirty="0"/>
          </a:p>
          <a:p>
            <a:pPr algn="l" indent="0" marL="0">
              <a:lnSpc>
                <a:spcPct val="90000"/>
              </a:lnSpc>
              <a:buNone/>
            </a:pPr>
            <a:r>
              <a:rPr lang="en-US" sz="6400" b="1" dirty="0">
                <a:solidFill>
                  <a:schemeClr val="tx1"/>
                </a:solidFill>
              </a:rPr>
              <a:t>yourself</a:t>
            </a:r>
            <a:endParaRPr lang="en-US" sz="6400" dirty="0"/>
          </a:p>
        </p:txBody>
      </p:sp>
      <p:sp>
        <p:nvSpPr>
          <p:cNvPr id="4" name="Text 0"/>
          <p:cNvSpPr/>
          <p:nvPr>
            <p:ph idx="102" type="body" hasCustomPrompt="1"/>
          </p:nvPr>
        </p:nvSpPr>
        <p:spPr>
          <a:xfrm>
            <a:off x="758952" y="3931920"/>
            <a:ext cx="6035040" cy="822960"/>
          </a:xfrm>
          <a:prstGeom prst="rect">
            <a:avLst/>
          </a:prstGeom>
          <a:noFill/>
          <a:ln/>
        </p:spPr>
        <p:txBody>
          <a:bodyPr wrap="square" lIns="0" tIns="0" rIns="0" bIns="0" rtlCol="0" anchor="t"/>
          <a:lstStyle/>
          <a:p>
            <a:pPr indent="0" marL="0">
              <a:buNone/>
            </a:pPr>
            <a:r>
              <a:rPr lang="en-US" sz="2000" dirty="0">
                <a:solidFill>
                  <a:schemeClr val="tx1"/>
                </a:solidFill>
              </a:rPr>
              <a:t>Our survey website, with a demo case made just for today.</a:t>
            </a:r>
            <a:endParaRPr lang="en-US" sz="2000" dirty="0"/>
          </a:p>
        </p:txBody>
      </p:sp>
      <p:sp>
        <p:nvSpPr>
          <p:cNvPr id="6" name="live dot"/>
          <p:cNvSpPr/>
          <p:nvPr/>
        </p:nvSpPr>
        <p:spPr>
          <a:xfrm>
            <a:off x="758952" y="1463040"/>
            <a:ext cx="155448" cy="155448"/>
          </a:xfrm>
          <a:prstGeom prst="ellipse">
            <a:avLst/>
          </a:prstGeom>
          <a:solidFill>
            <a:schemeClr val="accent4"/>
          </a:solidFill>
          <a:ln/>
        </p:spPr>
      </p:sp>
      <p:sp>
        <p:nvSpPr>
          <p:cNvPr id="7" name="Text 4"/>
          <p:cNvSpPr txBox="1"/>
          <p:nvPr/>
        </p:nvSpPr>
        <p:spPr>
          <a:xfrm>
            <a:off x="1033272" y="1417320"/>
            <a:ext cx="2743200" cy="292608"/>
          </a:xfrm>
          <a:prstGeom prst="rect">
            <a:avLst/>
          </a:prstGeom>
          <a:noFill/>
          <a:ln/>
        </p:spPr>
        <p:txBody>
          <a:bodyPr wrap="square" lIns="0" tIns="0" rIns="0" bIns="0" rtlCol="0" anchor="t"/>
          <a:lstStyle/>
          <a:p>
            <a:pPr indent="0" marL="0">
              <a:buNone/>
            </a:pPr>
            <a:r>
              <a:rPr lang="en-US" sz="1400" spc="200" kern="0" dirty="0">
                <a:solidFill>
                  <a:schemeClr val="accent4"/>
                </a:solidFill>
                <a:latin typeface="Consolas" pitchFamily="34" charset="0"/>
                <a:ea typeface="Consolas" pitchFamily="34" charset="-122"/>
                <a:cs typeface="Consolas" pitchFamily="34" charset="-120"/>
              </a:rPr>
              <a:t>LIVE DEMO</a:t>
            </a:r>
            <a:endParaRPr lang="en-US" sz="1400" dirty="0"/>
          </a:p>
        </p:txBody>
      </p:sp>
      <p:sp>
        <p:nvSpPr>
          <p:cNvPr id="8" name="Text 5"/>
          <p:cNvSpPr txBox="1"/>
          <p:nvPr/>
        </p:nvSpPr>
        <p:spPr>
          <a:xfrm>
            <a:off x="7406640" y="1874520"/>
            <a:ext cx="274320" cy="320040"/>
          </a:xfrm>
          <a:prstGeom prst="rect">
            <a:avLst/>
          </a:prstGeom>
          <a:noFill/>
          <a:ln/>
        </p:spPr>
        <p:txBody>
          <a:bodyPr wrap="square" lIns="0" tIns="0" rIns="0" bIns="0" rtlCol="0" anchor="t"/>
          <a:lstStyle/>
          <a:p>
            <a:pPr indent="0" marL="0">
              <a:buNone/>
            </a:pPr>
            <a:r>
              <a:rPr lang="en-US" sz="1200" dirty="0">
                <a:solidFill>
                  <a:schemeClr val="tx2"/>
                </a:solidFill>
                <a:latin typeface="Consolas" pitchFamily="34" charset="0"/>
                <a:ea typeface="Consolas" pitchFamily="34" charset="-122"/>
                <a:cs typeface="Consolas" pitchFamily="34" charset="-120"/>
              </a:rPr>
              <a:t>1</a:t>
            </a:r>
            <a:endParaRPr lang="en-US" sz="1200" dirty="0"/>
          </a:p>
        </p:txBody>
      </p:sp>
      <p:sp>
        <p:nvSpPr>
          <p:cNvPr id="9" name="Text 6"/>
          <p:cNvSpPr txBox="1"/>
          <p:nvPr/>
        </p:nvSpPr>
        <p:spPr>
          <a:xfrm>
            <a:off x="7772400" y="1828800"/>
            <a:ext cx="3657600" cy="411480"/>
          </a:xfrm>
          <a:prstGeom prst="rect">
            <a:avLst/>
          </a:prstGeom>
          <a:noFill/>
          <a:ln/>
        </p:spPr>
        <p:txBody>
          <a:bodyPr wrap="square" lIns="0" tIns="0" rIns="0" bIns="0" rtlCol="0" anchor="t"/>
          <a:lstStyle/>
          <a:p>
            <a:pPr indent="0" marL="0">
              <a:buNone/>
            </a:pPr>
            <a:r>
              <a:rPr lang="en-US" sz="1500" dirty="0">
                <a:solidFill>
                  <a:schemeClr val="tx1"/>
                </a:solidFill>
              </a:rPr>
              <a:t>Read the situation</a:t>
            </a:r>
            <a:endParaRPr lang="en-US" sz="1500" dirty="0"/>
          </a:p>
        </p:txBody>
      </p:sp>
      <p:sp>
        <p:nvSpPr>
          <p:cNvPr id="10" name="Text 7"/>
          <p:cNvSpPr txBox="1"/>
          <p:nvPr/>
        </p:nvSpPr>
        <p:spPr>
          <a:xfrm>
            <a:off x="7406640" y="2423160"/>
            <a:ext cx="274320" cy="320040"/>
          </a:xfrm>
          <a:prstGeom prst="rect">
            <a:avLst/>
          </a:prstGeom>
          <a:noFill/>
          <a:ln/>
        </p:spPr>
        <p:txBody>
          <a:bodyPr wrap="square" lIns="0" tIns="0" rIns="0" bIns="0" rtlCol="0" anchor="t"/>
          <a:lstStyle/>
          <a:p>
            <a:pPr indent="0" marL="0">
              <a:buNone/>
            </a:pPr>
            <a:r>
              <a:rPr lang="en-US" sz="1200" dirty="0">
                <a:solidFill>
                  <a:schemeClr val="tx2"/>
                </a:solidFill>
                <a:latin typeface="Consolas" pitchFamily="34" charset="0"/>
                <a:ea typeface="Consolas" pitchFamily="34" charset="-122"/>
                <a:cs typeface="Consolas" pitchFamily="34" charset="-120"/>
              </a:rPr>
              <a:t>2</a:t>
            </a:r>
            <a:endParaRPr lang="en-US" sz="1200" dirty="0"/>
          </a:p>
        </p:txBody>
      </p:sp>
      <p:sp>
        <p:nvSpPr>
          <p:cNvPr id="11" name="Text 8"/>
          <p:cNvSpPr txBox="1"/>
          <p:nvPr/>
        </p:nvSpPr>
        <p:spPr>
          <a:xfrm>
            <a:off x="7772400" y="2377440"/>
            <a:ext cx="3657600" cy="411480"/>
          </a:xfrm>
          <a:prstGeom prst="rect">
            <a:avLst/>
          </a:prstGeom>
          <a:noFill/>
          <a:ln/>
        </p:spPr>
        <p:txBody>
          <a:bodyPr wrap="square" lIns="0" tIns="0" rIns="0" bIns="0" rtlCol="0" anchor="t"/>
          <a:lstStyle/>
          <a:p>
            <a:pPr indent="0" marL="0">
              <a:buNone/>
            </a:pPr>
            <a:r>
              <a:rPr lang="en-US" sz="1500" dirty="0">
                <a:solidFill>
                  <a:schemeClr val="tx1"/>
                </a:solidFill>
              </a:rPr>
              <a:t>The AI explains: </a:t>
            </a:r>
            <a:pPr indent="0" marL="0">
              <a:buNone/>
            </a:pPr>
            <a:r>
              <a:rPr lang="en-US" sz="1500" b="1" dirty="0">
                <a:solidFill>
                  <a:schemeClr val="accent1"/>
                </a:solidFill>
              </a:rPr>
              <a:t>text</a:t>
            </a:r>
            <a:pPr indent="0" marL="0">
              <a:buNone/>
            </a:pPr>
            <a:r>
              <a:rPr lang="en-US" sz="1500" dirty="0">
                <a:solidFill>
                  <a:schemeClr val="tx1"/>
                </a:solidFill>
              </a:rPr>
              <a:t>, </a:t>
            </a:r>
            <a:pPr indent="0" marL="0">
              <a:buNone/>
            </a:pPr>
            <a:r>
              <a:rPr lang="en-US" sz="1500" b="1" dirty="0">
                <a:solidFill>
                  <a:schemeClr val="accent2"/>
                </a:solidFill>
              </a:rPr>
              <a:t>voice</a:t>
            </a:r>
            <a:pPr indent="0" marL="0">
              <a:buNone/>
            </a:pPr>
            <a:r>
              <a:rPr lang="en-US" sz="1500" dirty="0">
                <a:solidFill>
                  <a:schemeClr val="tx1"/>
                </a:solidFill>
              </a:rPr>
              <a:t> or </a:t>
            </a:r>
            <a:pPr indent="0" marL="0">
              <a:buNone/>
            </a:pPr>
            <a:r>
              <a:rPr lang="en-US" sz="1500" b="1" dirty="0">
                <a:solidFill>
                  <a:schemeClr val="accent3"/>
                </a:solidFill>
              </a:rPr>
              <a:t>voice + face</a:t>
            </a:r>
            <a:endParaRPr lang="en-US" sz="1500" dirty="0"/>
          </a:p>
        </p:txBody>
      </p:sp>
      <p:sp>
        <p:nvSpPr>
          <p:cNvPr id="12" name="Text 9"/>
          <p:cNvSpPr txBox="1"/>
          <p:nvPr/>
        </p:nvSpPr>
        <p:spPr>
          <a:xfrm>
            <a:off x="7406640" y="2971800"/>
            <a:ext cx="274320" cy="320040"/>
          </a:xfrm>
          <a:prstGeom prst="rect">
            <a:avLst/>
          </a:prstGeom>
          <a:noFill/>
          <a:ln/>
        </p:spPr>
        <p:txBody>
          <a:bodyPr wrap="square" lIns="0" tIns="0" rIns="0" bIns="0" rtlCol="0" anchor="t"/>
          <a:lstStyle/>
          <a:p>
            <a:pPr indent="0" marL="0">
              <a:buNone/>
            </a:pPr>
            <a:r>
              <a:rPr lang="en-US" sz="1200" dirty="0">
                <a:solidFill>
                  <a:schemeClr val="tx2"/>
                </a:solidFill>
                <a:latin typeface="Consolas" pitchFamily="34" charset="0"/>
                <a:ea typeface="Consolas" pitchFamily="34" charset="-122"/>
                <a:cs typeface="Consolas" pitchFamily="34" charset="-120"/>
              </a:rPr>
              <a:t>3</a:t>
            </a:r>
            <a:endParaRPr lang="en-US" sz="1200" dirty="0"/>
          </a:p>
        </p:txBody>
      </p:sp>
      <p:sp>
        <p:nvSpPr>
          <p:cNvPr id="13" name="Text 10"/>
          <p:cNvSpPr txBox="1"/>
          <p:nvPr/>
        </p:nvSpPr>
        <p:spPr>
          <a:xfrm>
            <a:off x="7772400" y="2926080"/>
            <a:ext cx="3657600" cy="411480"/>
          </a:xfrm>
          <a:prstGeom prst="rect">
            <a:avLst/>
          </a:prstGeom>
          <a:noFill/>
          <a:ln/>
        </p:spPr>
        <p:txBody>
          <a:bodyPr wrap="square" lIns="0" tIns="0" rIns="0" bIns="0" rtlCol="0" anchor="t"/>
          <a:lstStyle/>
          <a:p>
            <a:pPr indent="0" marL="0">
              <a:buNone/>
            </a:pPr>
            <a:r>
              <a:rPr lang="en-US" sz="1500" dirty="0">
                <a:solidFill>
                  <a:schemeClr val="tx1"/>
                </a:solidFill>
              </a:rPr>
              <a:t>Rate your trust, then answer the questions</a:t>
            </a:r>
            <a:endParaRPr lang="en-US" sz="1500" dirty="0"/>
          </a:p>
        </p:txBody>
      </p:sp>
      <p:sp>
        <p:nvSpPr>
          <p:cNvPr id="14" name="why demo case"/>
          <p:cNvSpPr/>
          <p:nvPr/>
        </p:nvSpPr>
        <p:spPr>
          <a:xfrm>
            <a:off x="7406640" y="3520440"/>
            <a:ext cx="4023360" cy="1920240"/>
          </a:xfrm>
          <a:prstGeom prst="roundRect">
            <a:avLst>
              <a:gd name="adj" fmla="val 2381"/>
            </a:avLst>
          </a:prstGeom>
          <a:solidFill>
            <a:schemeClr val="bg2"/>
          </a:solidFill>
          <a:ln/>
        </p:spPr>
      </p:sp>
      <p:sp>
        <p:nvSpPr>
          <p:cNvPr id="15" name="Text 12"/>
          <p:cNvSpPr txBox="1"/>
          <p:nvPr/>
        </p:nvSpPr>
        <p:spPr>
          <a:xfrm>
            <a:off x="7635240" y="3611880"/>
            <a:ext cx="3566160" cy="1737360"/>
          </a:xfrm>
          <a:prstGeom prst="rect">
            <a:avLst/>
          </a:prstGeom>
          <a:noFill/>
          <a:ln/>
        </p:spPr>
        <p:txBody>
          <a:bodyPr wrap="square" lIns="0" tIns="0" rIns="0" bIns="0" rtlCol="0" anchor="ctr"/>
          <a:lstStyle/>
          <a:p>
            <a:pPr indent="0" marL="0">
              <a:buNone/>
            </a:pPr>
            <a:r>
              <a:rPr lang="en-US" sz="1500" b="1" dirty="0">
                <a:solidFill>
                  <a:schemeClr val="tx1"/>
                </a:solidFill>
              </a:rPr>
              <a:t>Why not a real case? </a:t>
            </a:r>
            <a:pPr indent="0" marL="0">
              <a:buNone/>
            </a:pPr>
            <a:r>
              <a:rPr lang="en-US" sz="1500" dirty="0">
                <a:solidFill>
                  <a:schemeClr val="tx1"/>
                </a:solidFill>
              </a:rPr>
              <a:t>We'd like you, our classmates and professors, to take part. Showing the real cases now would give the mistakes away. Since you've already heard how the survey works, your answers will be kept as a separate group.</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758952" y="612648"/>
            <a:ext cx="10671048" cy="274320"/>
          </a:xfrm>
          <a:prstGeom prst="rect">
            <a:avLst/>
          </a:prstGeom>
          <a:noFill/>
          <a:ln/>
        </p:spPr>
        <p:txBody>
          <a:bodyPr wrap="square" lIns="0" tIns="0" rIns="0" bIns="0" rtlCol="0" anchor="t"/>
          <a:lstStyle/>
          <a:p>
            <a:pPr indent="0" marL="0">
              <a:buNone/>
            </a:pPr>
            <a:r>
              <a:rPr lang="en-US" sz="1100" spc="200" kern="0" dirty="0">
                <a:solidFill>
                  <a:schemeClr val="tx2"/>
                </a:solidFill>
                <a:latin typeface="Consolas" pitchFamily="34" charset="0"/>
                <a:ea typeface="Consolas" pitchFamily="34" charset="-122"/>
                <a:cs typeface="Consolas" pitchFamily="34" charset="-120"/>
              </a:rPr>
              <a:t>THANK YOU</a:t>
            </a:r>
            <a:endParaRPr lang="en-US" sz="1100" dirty="0"/>
          </a:p>
        </p:txBody>
      </p:sp>
      <p:sp>
        <p:nvSpPr>
          <p:cNvPr id="3" name="Text 0"/>
          <p:cNvSpPr/>
          <p:nvPr>
            <p:ph idx="101" type="title" hasCustomPrompt="1"/>
          </p:nvPr>
        </p:nvSpPr>
        <p:spPr>
          <a:xfrm>
            <a:off x="758952" y="1828800"/>
            <a:ext cx="6583680" cy="1920240"/>
          </a:xfrm>
          <a:prstGeom prst="rect">
            <a:avLst/>
          </a:prstGeom>
          <a:noFill/>
          <a:ln/>
        </p:spPr>
        <p:txBody>
          <a:bodyPr wrap="square" lIns="0" tIns="0" rIns="0" bIns="0" rtlCol="0" anchor="b"/>
          <a:lstStyle/>
          <a:p>
            <a:pPr algn="l" indent="0" marL="0">
              <a:lnSpc>
                <a:spcPct val="90000"/>
              </a:lnSpc>
              <a:buNone/>
            </a:pPr>
            <a:r>
              <a:rPr lang="en-US" sz="6400" b="1" dirty="0">
                <a:solidFill>
                  <a:schemeClr val="tx1"/>
                </a:solidFill>
              </a:rPr>
              <a:t>Better models,</a:t>
            </a:r>
            <a:endParaRPr lang="en-US" sz="6400" dirty="0"/>
          </a:p>
          <a:p>
            <a:pPr algn="l" indent="0" marL="0">
              <a:lnSpc>
                <a:spcPct val="90000"/>
              </a:lnSpc>
              <a:buNone/>
            </a:pPr>
            <a:r>
              <a:rPr lang="en-US" sz="6400" b="1" dirty="0">
                <a:solidFill>
                  <a:schemeClr val="tx1"/>
                </a:solidFill>
              </a:rPr>
              <a:t>better humans?</a:t>
            </a:r>
            <a:endParaRPr lang="en-US" sz="6400" dirty="0"/>
          </a:p>
        </p:txBody>
      </p:sp>
      <p:sp>
        <p:nvSpPr>
          <p:cNvPr id="4" name="Text 0"/>
          <p:cNvSpPr/>
          <p:nvPr>
            <p:ph idx="102" type="body" hasCustomPrompt="1"/>
          </p:nvPr>
        </p:nvSpPr>
        <p:spPr>
          <a:xfrm>
            <a:off x="758952" y="3931920"/>
            <a:ext cx="6035040" cy="822960"/>
          </a:xfrm>
          <a:prstGeom prst="rect">
            <a:avLst/>
          </a:prstGeom>
          <a:noFill/>
          <a:ln/>
        </p:spPr>
        <p:txBody>
          <a:bodyPr wrap="square" lIns="0" tIns="0" rIns="0" bIns="0" rtlCol="0" anchor="t"/>
          <a:lstStyle/>
          <a:p>
            <a:pPr indent="0" marL="0">
              <a:buNone/>
            </a:pPr>
            <a:r>
              <a:rPr lang="en-US" sz="2000" dirty="0">
                <a:solidFill>
                  <a:schemeClr val="tx1"/>
                </a:solidFill>
              </a:rPr>
              <a:t>We will find out whether a face makes an AI more helpful, or just more convincing.</a:t>
            </a:r>
            <a:endParaRPr lang="en-US" sz="2000" dirty="0"/>
          </a:p>
        </p:txBody>
      </p:sp>
      <p:sp>
        <p:nvSpPr>
          <p:cNvPr id="5" name="Shape 3"/>
          <p:cNvSpPr/>
          <p:nvPr/>
        </p:nvSpPr>
        <p:spPr>
          <a:xfrm>
            <a:off x="758952" y="4983480"/>
            <a:ext cx="10671048" cy="0"/>
          </a:xfrm>
          <a:prstGeom prst="line">
            <a:avLst/>
          </a:prstGeom>
          <a:noFill/>
          <a:ln w="9525">
            <a:solidFill>
              <a:schemeClr val="accent6"/>
            </a:solidFill>
            <a:prstDash val="solid"/>
          </a:ln>
        </p:spPr>
      </p:sp>
      <p:sp>
        <p:nvSpPr>
          <p:cNvPr id="6" name="Text 4"/>
          <p:cNvSpPr txBox="1"/>
          <p:nvPr/>
        </p:nvSpPr>
        <p:spPr>
          <a:xfrm>
            <a:off x="758952" y="5120640"/>
            <a:ext cx="7315200" cy="320040"/>
          </a:xfrm>
          <a:prstGeom prst="rect">
            <a:avLst/>
          </a:prstGeom>
          <a:noFill/>
          <a:ln/>
        </p:spPr>
        <p:txBody>
          <a:bodyPr wrap="square" lIns="0" tIns="0" rIns="0" bIns="0" rtlCol="0" anchor="t"/>
          <a:lstStyle/>
          <a:p>
            <a:pPr indent="0" marL="0">
              <a:buNone/>
            </a:pPr>
            <a:r>
              <a:rPr lang="en-US" sz="1400" dirty="0">
                <a:solidFill>
                  <a:schemeClr val="tx2"/>
                </a:solidFill>
                <a:latin typeface="Consolas" pitchFamily="34" charset="0"/>
                <a:ea typeface="Consolas" pitchFamily="34" charset="-122"/>
                <a:cs typeface="Consolas" pitchFamily="34" charset="-120"/>
              </a:rPr>
              <a:t>Leander Stierman      Lin Kengjian      Henri Lemahieu</a:t>
            </a:r>
            <a:endParaRPr lang="en-US" sz="1400" dirty="0"/>
          </a:p>
        </p:txBody>
      </p:sp>
      <p:sp>
        <p:nvSpPr>
          <p:cNvPr id="7" name="Text 5"/>
          <p:cNvSpPr txBox="1"/>
          <p:nvPr/>
        </p:nvSpPr>
        <p:spPr>
          <a:xfrm>
            <a:off x="8686800" y="5120640"/>
            <a:ext cx="2743200" cy="320040"/>
          </a:xfrm>
          <a:prstGeom prst="rect">
            <a:avLst/>
          </a:prstGeom>
          <a:noFill/>
          <a:ln/>
        </p:spPr>
        <p:txBody>
          <a:bodyPr wrap="square" lIns="0" tIns="0" rIns="0" bIns="0" rtlCol="0" anchor="t"/>
          <a:lstStyle/>
          <a:p>
            <a:pPr algn="r" indent="0" marL="0">
              <a:buNone/>
            </a:pPr>
            <a:r>
              <a:rPr lang="en-US" sz="1400" dirty="0">
                <a:solidFill>
                  <a:schemeClr val="tx1"/>
                </a:solidFill>
                <a:latin typeface="Consolas" pitchFamily="34" charset="0"/>
                <a:ea typeface="Consolas" pitchFamily="34" charset="-122"/>
                <a:cs typeface="Consolas" pitchFamily="34" charset="-120"/>
              </a:rPr>
              <a:t>Questions?</a:t>
            </a:r>
            <a:endParaRPr lang="en-US" sz="1400" dirty="0"/>
          </a:p>
        </p:txBody>
      </p:sp>
    </p:spTree>
  </p:cSld>
  <p:clrMapOvr>
    <a:masterClrMapping/>
  </p:clrMapOvr>
</p:sld>
</file>

<file path=ppt/theme/theme1.xml><?xml version="1.0" encoding="utf-8"?>
<a:theme xmlns:a="http://schemas.openxmlformats.org/drawingml/2006/main" name="Better Models">
  <a:themeElements>
    <a:clrScheme name="Better Models">
      <a:dk1>
        <a:srgbClr val="15181C"/>
      </a:dk1>
      <a:lt1>
        <a:srgbClr val="FAFBF8"/>
      </a:lt1>
      <a:dk2>
        <a:srgbClr val="5D6460"/>
      </a:dk2>
      <a:lt2>
        <a:srgbClr val="E6E9E3"/>
      </a:lt2>
      <a:accent1>
        <a:srgbClr val="3E5C8A"/>
      </a:accent1>
      <a:accent2>
        <a:srgbClr val="1F7A6D"/>
      </a:accent2>
      <a:accent3>
        <a:srgbClr val="B86E14"/>
      </a:accent3>
      <a:accent4>
        <a:srgbClr val="C7323B"/>
      </a:accent4>
      <a:accent5>
        <a:srgbClr val="F7DEDF"/>
      </a:accent5>
      <a:accent6>
        <a:srgbClr val="D5D9D3"/>
      </a:accent6>
      <a:hlink>
        <a:srgbClr val="3E5C8A"/>
      </a:hlink>
      <a:folHlink>
        <a:srgbClr val="5D6460"/>
      </a:folHlink>
    </a:clrScheme>
    <a:fontScheme name="Better Model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Better models, better humans?</dc:title>
  <dc:subject>PptxGenJS Presentation</dc:subject>
  <dc:creator>Leander Stierman, Lin Kengjian, Henri Lemahieu</dc:creator>
  <cp:lastModifiedBy>Leander Stierman, Lin Kengjian, Henri Lemahieu</cp:lastModifiedBy>
  <cp:revision>1</cp:revision>
  <dcterms:created xsi:type="dcterms:W3CDTF">2026-10-22T19:40:59Z</dcterms:created>
  <dcterms:modified xsi:type="dcterms:W3CDTF">2026-10-22T19:40:59Z</dcterms:modified>
</cp:coreProperties>
</file>